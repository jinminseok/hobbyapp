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5" r:id="rId11"/>
    <p:sldId id="281" r:id="rId12"/>
    <p:sldId id="282" r:id="rId13"/>
    <p:sldId id="283" r:id="rId14"/>
    <p:sldId id="284" r:id="rId15"/>
    <p:sldId id="285" r:id="rId16"/>
    <p:sldId id="286" r:id="rId17"/>
    <p:sldId id="276" r:id="rId18"/>
    <p:sldId id="277" r:id="rId19"/>
    <p:sldId id="287" r:id="rId20"/>
    <p:sldId id="278" r:id="rId21"/>
    <p:sldId id="279" r:id="rId22"/>
    <p:sldId id="288" r:id="rId23"/>
    <p:sldId id="289" r:id="rId24"/>
    <p:sldId id="280" r:id="rId25"/>
    <p:sldId id="272" r:id="rId26"/>
    <p:sldId id="273" r:id="rId27"/>
    <p:sldId id="274" r:id="rId28"/>
    <p:sldId id="264" r:id="rId29"/>
  </p:sldIdLst>
  <p:sldSz cx="12192000" cy="6858000"/>
  <p:notesSz cx="6858000" cy="9144000"/>
  <p:embeddedFontLst>
    <p:embeddedFont>
      <p:font typeface="KoPubWorld돋움체 Bold" panose="020B0600000101010101" charset="-127"/>
      <p:bold r:id="rId30"/>
    </p:embeddedFont>
    <p:embeddedFont>
      <p:font typeface="KoPubWorld돋움체 Light" panose="020B0600000101010101" charset="-127"/>
      <p:regular r:id="rId31"/>
    </p:embeddedFont>
    <p:embeddedFont>
      <p:font typeface="Arial Rounded MT Bold" panose="020F0704030504030204" pitchFamily="34" charset="0"/>
      <p:regular r:id="rId32"/>
    </p:embeddedFont>
    <p:embeddedFont>
      <p:font typeface="LG PC" panose="02030504000101010101" pitchFamily="18" charset="-127"/>
      <p:regular r:id="rId33"/>
    </p:embeddedFont>
    <p:embeddedFont>
      <p:font typeface="LG Smart UI Bold" panose="020B0800000101010101" pitchFamily="50" charset="-127"/>
      <p:bold r:id="rId34"/>
    </p:embeddedFont>
    <p:embeddedFont>
      <p:font typeface="맑은 고딕" panose="020B0503020000020004" pitchFamily="50" charset="-127"/>
      <p:regular r:id="rId35"/>
      <p:bold r:id="rId36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DEAD"/>
    <a:srgbClr val="4ABD8D"/>
    <a:srgbClr val="E2E2E2"/>
    <a:srgbClr val="FDEDF0"/>
    <a:srgbClr val="5DFF9B"/>
    <a:srgbClr val="7BF6C3"/>
    <a:srgbClr val="34AA79"/>
    <a:srgbClr val="97FFD4"/>
    <a:srgbClr val="64DECF"/>
    <a:srgbClr val="85E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3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  <c:spPr>
        <a:noFill/>
      </c:spPr>
    </c:sideWall>
    <c:backWall>
      <c:thickness val="0"/>
      <c:spPr>
        <a:noFill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기획 및 설계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김성민</c:v>
                </c:pt>
                <c:pt idx="1">
                  <c:v>진민석</c:v>
                </c:pt>
                <c:pt idx="2">
                  <c:v>최남규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90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33-4D8D-A9D6-20F4CEDEDE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자료수집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50000"/>
                    <a:satMod val="300000"/>
                  </a:schemeClr>
                </a:gs>
                <a:gs pos="35000">
                  <a:schemeClr val="accent5">
                    <a:tint val="37000"/>
                    <a:satMod val="300000"/>
                  </a:schemeClr>
                </a:gs>
                <a:gs pos="100000">
                  <a:schemeClr val="accent5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5">
                  <a:shade val="95000"/>
                  <a:satMod val="105000"/>
                </a:schemeClr>
              </a:solidFill>
              <a:prstDash val="solid"/>
              <a:bevel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Sheet1!$A$2:$A$4</c:f>
              <c:strCache>
                <c:ptCount val="3"/>
                <c:pt idx="0">
                  <c:v>김성민</c:v>
                </c:pt>
                <c:pt idx="1">
                  <c:v>진민석</c:v>
                </c:pt>
                <c:pt idx="2">
                  <c:v>최남규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33-4D8D-A9D6-20F4CEDEDE9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코딩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50000"/>
                    <a:satMod val="300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olid"/>
              <a:bevel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Sheet1!$A$2:$A$4</c:f>
              <c:strCache>
                <c:ptCount val="3"/>
                <c:pt idx="0">
                  <c:v>김성민</c:v>
                </c:pt>
                <c:pt idx="1">
                  <c:v>진민석</c:v>
                </c:pt>
                <c:pt idx="2">
                  <c:v>최남규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85</c:v>
                </c:pt>
                <c:pt idx="1">
                  <c:v>90</c:v>
                </c:pt>
                <c:pt idx="2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33-4D8D-A9D6-20F4CEDEDE9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디버깅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  <a:bevel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Sheet1!$A$2:$A$4</c:f>
              <c:strCache>
                <c:ptCount val="3"/>
                <c:pt idx="0">
                  <c:v>김성민</c:v>
                </c:pt>
                <c:pt idx="1">
                  <c:v>진민석</c:v>
                </c:pt>
                <c:pt idx="2">
                  <c:v>최남규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90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D33-4D8D-A9D6-20F4CEDEDE9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디자인</c:v>
                </c:pt>
              </c:strCache>
            </c:strRef>
          </c:tx>
          <c:spPr>
            <a:gradFill rotWithShape="1">
              <a:gsLst>
                <a:gs pos="0">
                  <a:schemeClr val="dk1">
                    <a:tint val="50000"/>
                    <a:satMod val="300000"/>
                  </a:schemeClr>
                </a:gs>
                <a:gs pos="35000">
                  <a:schemeClr val="dk1">
                    <a:tint val="37000"/>
                    <a:satMod val="300000"/>
                  </a:schemeClr>
                </a:gs>
                <a:gs pos="100000">
                  <a:schemeClr val="dk1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dk1">
                  <a:shade val="95000"/>
                  <a:satMod val="105000"/>
                </a:schemeClr>
              </a:solidFill>
              <a:prstDash val="solid"/>
              <a:bevel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Sheet1!$A$2:$A$4</c:f>
              <c:strCache>
                <c:ptCount val="3"/>
                <c:pt idx="0">
                  <c:v>김성민</c:v>
                </c:pt>
                <c:pt idx="1">
                  <c:v>진민석</c:v>
                </c:pt>
                <c:pt idx="2">
                  <c:v>최남규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90</c:v>
                </c:pt>
                <c:pt idx="1">
                  <c:v>95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D33-4D8D-A9D6-20F4CEDED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148"/>
        <c:shape val="box"/>
        <c:axId val="76680192"/>
        <c:axId val="76739328"/>
        <c:axId val="0"/>
      </c:bar3DChart>
      <c:catAx>
        <c:axId val="7668019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 rot="0" vert="horz" wrap="none" lIns="0" tIns="0" rIns="0" bIns="0" anchor="ctr" anchorCtr="1"/>
          <a:lstStyle/>
          <a:p>
            <a:pPr algn="l">
              <a:defRPr b="1" i="0" u="none">
                <a:latin typeface="LG PC" panose="02030504000101010101" pitchFamily="18" charset="-127"/>
                <a:ea typeface="LG PC" panose="02030504000101010101" pitchFamily="18" charset="-127"/>
                <a:cs typeface="맑은 고딕" panose="00000000000000000000"/>
                <a:sym typeface="맑은 고딕" panose="00000000000000000000"/>
              </a:defRPr>
            </a:pPr>
            <a:endParaRPr lang="ko-KR"/>
          </a:p>
        </c:txPr>
        <c:crossAx val="76739328"/>
        <c:crosses val="autoZero"/>
        <c:auto val="1"/>
        <c:lblAlgn val="ctr"/>
        <c:lblOffset val="100"/>
        <c:tickMarkSkip val="1"/>
        <c:noMultiLvlLbl val="0"/>
      </c:catAx>
      <c:valAx>
        <c:axId val="76739328"/>
        <c:scaling>
          <c:orientation val="minMax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0" vert="horz" wrap="none" lIns="0" tIns="0" rIns="0" bIns="0" anchor="ctr" anchorCtr="1"/>
          <a:lstStyle/>
          <a:p>
            <a:pPr algn="l">
              <a:defRPr b="0" i="0" u="none">
                <a:latin typeface="맑은 고딕" panose="00000000000000000000"/>
                <a:ea typeface="맑은 고딕" panose="00000000000000000000"/>
                <a:cs typeface="맑은 고딕" panose="00000000000000000000"/>
                <a:sym typeface="맑은 고딕" panose="00000000000000000000"/>
              </a:defRPr>
            </a:pPr>
            <a:endParaRPr lang="ko-KR"/>
          </a:p>
        </c:txPr>
        <c:crossAx val="76680192"/>
        <c:crosses val="autoZero"/>
        <c:crossBetween val="between"/>
      </c:valAx>
      <c:spPr>
        <a:noFill/>
        <a:ln w="9525" cap="flat" cmpd="sng" algn="ctr">
          <a:noFill/>
          <a:prstDash val="solid"/>
          <a:round/>
        </a:ln>
      </c:spPr>
    </c:plotArea>
    <c:legend>
      <c:legendPos val="b"/>
      <c:overlay val="0"/>
      <c:txPr>
        <a:bodyPr rot="0" vert="horz" wrap="none" lIns="0" tIns="0" rIns="0" bIns="0" anchor="ctr" anchorCtr="1"/>
        <a:lstStyle/>
        <a:p>
          <a:pPr algn="l">
            <a:defRPr b="0" i="0" u="none">
              <a:latin typeface="LG PC" panose="02030504000101010101" pitchFamily="18" charset="-127"/>
              <a:ea typeface="LG PC" panose="02030504000101010101" pitchFamily="18" charset="-127"/>
              <a:cs typeface="맑은 고딕" panose="00000000000000000000"/>
              <a:sym typeface="맑은 고딕" panose="00000000000000000000"/>
            </a:defRPr>
          </a:pPr>
          <a:endParaRPr lang="ko-KR"/>
        </a:p>
      </c:txPr>
    </c:legend>
    <c:plotVisOnly val="1"/>
    <c:dispBlanksAs val="gap"/>
    <c:showDLblsOverMax val="1"/>
  </c:chart>
  <c:txPr>
    <a:bodyPr rot="0" vert="horz" wrap="none" lIns="0" tIns="0" rIns="0" bIns="0" anchor="ctr" anchorCtr="1"/>
    <a:lstStyle/>
    <a:p>
      <a:pPr algn="l">
        <a:defRPr sz="1800" b="0" i="0" u="none"/>
      </a:pPr>
      <a:endParaRPr lang="ko-KR"/>
    </a:p>
  </c:txPr>
  <c:externalData r:id="rId1">
    <c:autoUpdate val="0"/>
  </c:externalData>
  <c:extLst>
    <c:ext uri="CC8EB2C9-7E31-499d-B8F2-F6CE61031016">
      <ho:hncChartStyle xmlns:ho="http://schemas.haansoft.com/office/8.0" layoutIndex="-1" colorIndex="-1" styleIndex="-1"/>
    </c:ext>
  </c:extLs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079F7-1BDE-401F-901E-02A90F9D2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A9B5BF-FBB6-4901-84EE-838A7C801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4DFFE3-0837-4762-B229-764CCCFFE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E6BB08-C6CD-4B68-A95A-C0471BC5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DE8E12-A20E-43EB-9214-88A9924A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45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C89C7-27CD-4A97-90B7-4DD77F727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D3DC1C-D131-4061-8930-FFA615993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13BD02-7BA8-4BBC-AA38-71F372127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4464A4-6D4C-4C1A-9EC4-C77AE47B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B3F6AB-1EEC-4010-A945-A2E032D1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523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1D198-6537-4C0D-8D26-7A483A196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E50832-AFA7-4B94-8D03-2DF06D403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9E9AD6-C40C-4012-A493-9AF95255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E0D95-BDD7-48DB-B4BC-1D3D8C68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ABFA3E-BED5-4DF4-AB05-A59C05A7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55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7CF12-E197-4FDA-A488-25804059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20D48C-6396-48E3-AAEA-86F028FEE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2A53D2-7AFC-4DDA-A83E-59DBFA1FB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767CE4-0D16-40CD-A0FE-6BE7FDD3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EA0EAF-A65C-499C-B6EE-A8B897C5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B09D08-940C-491B-9A4E-2E5B4ECE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160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C6B6D-51B0-461F-91B1-D54732EA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409FFA-E886-417E-BB8C-9DD5BFE48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7E042C-4BC5-4DA8-B66A-381A0422E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206237-DC12-499B-89C2-3DCAEF6FA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D1F9D6-A934-4B3E-ABB6-519C4F5D1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61EA77-3E1C-440A-B465-759737FF6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7B1BF4-7D23-4FD7-ADA4-CF075E4B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F3A825-A101-4B66-84D9-2B71404E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58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1E278-F75D-4660-9D08-0D3E0FE08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08FB9F-22CF-4F1C-B7E4-41201529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753459-8735-432A-A77F-655AC95E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E6F224-6E76-44B8-AECB-13DF5B7D5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3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7824F4-6A1C-4395-8C7D-51776DE33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8D92FB-714B-4526-B6F1-CFEFF713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CDFFFF-6B78-492F-804D-9DE2DC6B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67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89EA7-983F-4230-90A7-9085374E2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5C8B69-658D-4532-87C4-98C2FEC8D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FA0CA3-3DCF-4A98-B87D-00C628D4D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74F306-CCC9-49A0-9BFB-CBF87DF81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16356C-9E73-4E64-9EB1-3990F9DD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D31894-02AA-4561-96F6-E6F6C0E3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68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E7A0D-BB4D-432E-88A7-72A8B8FD0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BBCEC50-41F9-470E-B94D-FF1B7038F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589834-27AD-430A-B41D-BA680E602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A17B97-91FE-4EF2-9699-D8F66FD80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E1E57C-0C84-45F3-A201-5E0715E6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44D6F3-878A-48C0-9D2C-E2E8891A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84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867D3-5430-410D-8400-111FBF3A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3EBFBC-819C-4B27-88D4-D19F31499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4A9D9D-6BCC-4978-B561-0F1AB8B6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CCF1A1-AFB2-4C48-BD45-BD42F5AC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43E432-C59B-4658-9D89-286CE953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96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845BC2-0329-46A5-BB1C-7A5416F4B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A021D2-C485-4A4D-8E5A-4ACEFC5E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7780D5-259F-47F0-88D5-E3ADEC053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28820-F01C-4E5C-89EB-A9762BC3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ADB37B-7CEC-4447-81E4-DD3A6DED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19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D68312-D8C0-4AB8-AD63-279CDB62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1D770D-F22B-4D8D-86E5-378840FD8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EA0C6-F6DF-4FD8-8E68-EC42C947E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1A2CC-AD33-4BEB-BEDF-7117FCB0AF3A}" type="datetimeFigureOut">
              <a:rPr lang="ko-KR" altLang="en-US" smtClean="0"/>
              <a:t>2023-06-25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B42F0-8675-4D0B-918D-F44560B8C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B4EEFF-1B8A-4E4B-ABD3-DD5B98FDF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77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블랙, 어둠이(가) 표시된 사진&#10;&#10;자동 생성된 설명">
            <a:extLst>
              <a:ext uri="{FF2B5EF4-FFF2-40B4-BE49-F238E27FC236}">
                <a16:creationId xmlns:a16="http://schemas.microsoft.com/office/drawing/2014/main" id="{9207BBB2-5AD5-11BA-6E0B-5211246ED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008" y="1183588"/>
            <a:ext cx="4038958" cy="403895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D9D9645-2F2B-4BB1-B5BA-17C241E6CFC2}"/>
              </a:ext>
            </a:extLst>
          </p:cNvPr>
          <p:cNvSpPr/>
          <p:nvPr/>
        </p:nvSpPr>
        <p:spPr>
          <a:xfrm>
            <a:off x="-10886" y="7951"/>
            <a:ext cx="12213771" cy="6858000"/>
          </a:xfrm>
          <a:prstGeom prst="rect">
            <a:avLst/>
          </a:prstGeom>
          <a:solidFill>
            <a:srgbClr val="69DEA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C50008-B1F3-5CCF-415E-DAC3B6CA6C59}"/>
              </a:ext>
            </a:extLst>
          </p:cNvPr>
          <p:cNvSpPr txBox="1"/>
          <p:nvPr/>
        </p:nvSpPr>
        <p:spPr>
          <a:xfrm>
            <a:off x="906447" y="1364616"/>
            <a:ext cx="2679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B0604020202020204" pitchFamily="2" charset="-79"/>
              </a:rPr>
              <a:t>MyLife</a:t>
            </a:r>
            <a:endParaRPr lang="ko-KR" altLang="en-US" sz="5400" b="1" dirty="0">
              <a:solidFill>
                <a:schemeClr val="bg1"/>
              </a:solidFill>
              <a:latin typeface="Arial Rounded MT Bold" panose="020F0704030504030204" pitchFamily="34" charset="0"/>
              <a:cs typeface="Aharoni" panose="020B0604020202020204" pitchFamily="2" charset="-79"/>
            </a:endParaRPr>
          </a:p>
        </p:txBody>
      </p:sp>
      <p:sp>
        <p:nvSpPr>
          <p:cNvPr id="17" name="모서리가 둥근 직사각형 9">
            <a:extLst>
              <a:ext uri="{FF2B5EF4-FFF2-40B4-BE49-F238E27FC236}">
                <a16:creationId xmlns:a16="http://schemas.microsoft.com/office/drawing/2014/main" id="{08F8993D-D184-C500-8DB0-2A559BC57656}"/>
              </a:ext>
            </a:extLst>
          </p:cNvPr>
          <p:cNvSpPr/>
          <p:nvPr/>
        </p:nvSpPr>
        <p:spPr bwMode="auto">
          <a:xfrm>
            <a:off x="8961120" y="5067298"/>
            <a:ext cx="2981740" cy="1230136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1933051 </a:t>
            </a:r>
            <a:r>
              <a:rPr lang="ko-KR" altLang="en-US" sz="24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최남규</a:t>
            </a:r>
            <a:endParaRPr lang="en-US" altLang="ko-KR" sz="2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24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1933055 </a:t>
            </a:r>
            <a:r>
              <a:rPr lang="ko-KR" altLang="en-US" sz="24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김성민</a:t>
            </a:r>
            <a:endParaRPr lang="en-US" altLang="ko-KR" sz="2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24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1933071 </a:t>
            </a:r>
            <a:r>
              <a:rPr lang="ko-KR" altLang="en-US" sz="24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진민석</a:t>
            </a:r>
            <a:endParaRPr lang="en-US" altLang="ko-KR" sz="2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073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4F2EBF-4938-45B7-8EE5-0FCC9BC096A7}"/>
              </a:ext>
            </a:extLst>
          </p:cNvPr>
          <p:cNvSpPr txBox="1"/>
          <p:nvPr/>
        </p:nvSpPr>
        <p:spPr>
          <a:xfrm>
            <a:off x="469942" y="116524"/>
            <a:ext cx="2651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CONTENTS</a:t>
            </a:r>
            <a:endParaRPr lang="ko-KR" altLang="en-US" sz="2800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BB21E30-1CD8-46E8-A8F3-29D7BD7E4EFC}"/>
              </a:ext>
            </a:extLst>
          </p:cNvPr>
          <p:cNvGrpSpPr/>
          <p:nvPr/>
        </p:nvGrpSpPr>
        <p:grpSpPr>
          <a:xfrm>
            <a:off x="2866400" y="2323317"/>
            <a:ext cx="5610639" cy="553998"/>
            <a:chOff x="3403338" y="2598003"/>
            <a:chExt cx="5610639" cy="553998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793B6E9-C890-4D5A-A71D-291AA2FC09FB}"/>
                </a:ext>
              </a:extLst>
            </p:cNvPr>
            <p:cNvGrpSpPr/>
            <p:nvPr/>
          </p:nvGrpSpPr>
          <p:grpSpPr>
            <a:xfrm>
              <a:off x="3403338" y="2598003"/>
              <a:ext cx="2206902" cy="553998"/>
              <a:chOff x="3403338" y="2598003"/>
              <a:chExt cx="2206902" cy="553998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84F941-B1A5-42ED-AD78-B0F57A275C9B}"/>
                  </a:ext>
                </a:extLst>
              </p:cNvPr>
              <p:cNvSpPr txBox="1"/>
              <p:nvPr/>
            </p:nvSpPr>
            <p:spPr>
              <a:xfrm>
                <a:off x="3403338" y="2598003"/>
                <a:ext cx="6174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>
                    <a:solidFill>
                      <a:srgbClr val="69DEAD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01</a:t>
                </a:r>
                <a:endParaRPr lang="ko-KR" altLang="en-US" sz="3000" b="1" dirty="0">
                  <a:solidFill>
                    <a:srgbClr val="69DEA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E13764-1EF0-4A6F-8554-79E11A74BCAB}"/>
                  </a:ext>
                </a:extLst>
              </p:cNvPr>
              <p:cNvSpPr txBox="1"/>
              <p:nvPr/>
            </p:nvSpPr>
            <p:spPr>
              <a:xfrm>
                <a:off x="4083860" y="2606428"/>
                <a:ext cx="15263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 Smart UI Bold" panose="020B0800000101010101" pitchFamily="50" charset="-127"/>
                    <a:ea typeface="LG Smart UI Bold" panose="020B0800000101010101" pitchFamily="50" charset="-127"/>
                    <a:cs typeface="KoPubWorld돋움체 Light" panose="020B0600000101010101" charset="-127"/>
                  </a:rPr>
                  <a:t>프로젝트 개요</a:t>
                </a:r>
              </a:p>
            </p:txBody>
          </p: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3A5AF55B-2B72-4D64-9D81-C0FF482732D7}"/>
                </a:ext>
              </a:extLst>
            </p:cNvPr>
            <p:cNvGrpSpPr/>
            <p:nvPr/>
          </p:nvGrpSpPr>
          <p:grpSpPr>
            <a:xfrm>
              <a:off x="6454034" y="2598003"/>
              <a:ext cx="2559943" cy="553998"/>
              <a:chOff x="6454034" y="2598003"/>
              <a:chExt cx="2559943" cy="553998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1C3A4C-9A1E-4998-B64C-27B322E1FB56}"/>
                  </a:ext>
                </a:extLst>
              </p:cNvPr>
              <p:cNvSpPr txBox="1"/>
              <p:nvPr/>
            </p:nvSpPr>
            <p:spPr>
              <a:xfrm>
                <a:off x="6454034" y="2598003"/>
                <a:ext cx="6174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>
                    <a:solidFill>
                      <a:srgbClr val="69DEAD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02</a:t>
                </a:r>
                <a:endParaRPr lang="ko-KR" altLang="en-US" sz="3000" b="1" dirty="0">
                  <a:solidFill>
                    <a:srgbClr val="69DEA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D65EA8-75FC-4381-8F1B-C7736D8545B7}"/>
                  </a:ext>
                </a:extLst>
              </p:cNvPr>
              <p:cNvSpPr txBox="1"/>
              <p:nvPr/>
            </p:nvSpPr>
            <p:spPr>
              <a:xfrm>
                <a:off x="7232720" y="2617543"/>
                <a:ext cx="17812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 Smart UI Bold" panose="020B0800000101010101" pitchFamily="50" charset="-127"/>
                    <a:ea typeface="LG Smart UI Bold" panose="020B0800000101010101" pitchFamily="50" charset="-127"/>
                    <a:cs typeface="KoPubWorld돋움체 Light" panose="00000300000000000000" pitchFamily="2" charset="-127"/>
                  </a:rPr>
                  <a:t>시스템</a:t>
                </a:r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 Smart UI Bold.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</a:t>
                </a:r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 Smart UI Bold."/>
                    <a:ea typeface="LG Smart UI Bold" panose="020B0800000101010101" pitchFamily="50" charset="-127"/>
                    <a:cs typeface="KoPubWorld돋움체 Light" panose="00000300000000000000" pitchFamily="2" charset="-127"/>
                  </a:rPr>
                  <a:t>요구분석</a:t>
                </a:r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 Smart UI Bold."/>
                    <a:ea typeface="KoPubWorld돋움체 Light" panose="00000300000000000000" pitchFamily="2" charset="-127"/>
                    <a:cs typeface="KoPubWorld돋움체 Light" panose="00000300000000000000" pitchFamily="2" charset="-127"/>
                  </a:rPr>
                  <a:t> </a:t>
                </a:r>
              </a:p>
            </p:txBody>
          </p:sp>
        </p:grp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9854F8-6B70-D423-AA82-F1502033330A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7DD362-C37A-0AB2-7DF5-EF312F564F99}"/>
              </a:ext>
            </a:extLst>
          </p:cNvPr>
          <p:cNvSpPr txBox="1"/>
          <p:nvPr/>
        </p:nvSpPr>
        <p:spPr>
          <a:xfrm>
            <a:off x="8967792" y="2323317"/>
            <a:ext cx="6174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>
                <a:solidFill>
                  <a:srgbClr val="69DEA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03</a:t>
            </a:r>
            <a:endParaRPr lang="ko-KR" altLang="en-US" sz="3000" b="1" dirty="0">
              <a:solidFill>
                <a:srgbClr val="69DEAD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755231-E729-E146-45C2-A350FCFD2A6C}"/>
              </a:ext>
            </a:extLst>
          </p:cNvPr>
          <p:cNvSpPr txBox="1"/>
          <p:nvPr/>
        </p:nvSpPr>
        <p:spPr>
          <a:xfrm>
            <a:off x="9818613" y="233174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개발 환경 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364888C-3A77-9F72-E362-4C047188A834}"/>
              </a:ext>
            </a:extLst>
          </p:cNvPr>
          <p:cNvGrpSpPr/>
          <p:nvPr/>
        </p:nvGrpSpPr>
        <p:grpSpPr>
          <a:xfrm>
            <a:off x="2866400" y="3703687"/>
            <a:ext cx="5021472" cy="553998"/>
            <a:chOff x="3403338" y="2598003"/>
            <a:chExt cx="5021472" cy="553998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B8B0005-D66D-BA07-8E42-EA6FC5A9980F}"/>
                </a:ext>
              </a:extLst>
            </p:cNvPr>
            <p:cNvGrpSpPr/>
            <p:nvPr/>
          </p:nvGrpSpPr>
          <p:grpSpPr>
            <a:xfrm>
              <a:off x="3403338" y="2598003"/>
              <a:ext cx="1815198" cy="553998"/>
              <a:chOff x="3403338" y="2598003"/>
              <a:chExt cx="1815198" cy="553998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A9CA08-A272-7D01-6649-6A102681A8BE}"/>
                  </a:ext>
                </a:extLst>
              </p:cNvPr>
              <p:cNvSpPr txBox="1"/>
              <p:nvPr/>
            </p:nvSpPr>
            <p:spPr>
              <a:xfrm>
                <a:off x="3403338" y="2598003"/>
                <a:ext cx="6174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>
                    <a:solidFill>
                      <a:srgbClr val="69DEAD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04</a:t>
                </a:r>
                <a:endParaRPr lang="ko-KR" altLang="en-US" sz="3000" b="1" dirty="0">
                  <a:solidFill>
                    <a:srgbClr val="69DEA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2507A36-8B24-C600-EB2A-2FB6F31FEFF1}"/>
                  </a:ext>
                </a:extLst>
              </p:cNvPr>
              <p:cNvSpPr txBox="1"/>
              <p:nvPr/>
            </p:nvSpPr>
            <p:spPr>
              <a:xfrm>
                <a:off x="4115349" y="2635441"/>
                <a:ext cx="11031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 Smart UI Bold" panose="020B0800000101010101" pitchFamily="50" charset="-127"/>
                    <a:ea typeface="LG Smart UI Bold" panose="020B0800000101010101" pitchFamily="50" charset="-127"/>
                    <a:cs typeface="KoPubWorld돋움체 Light" panose="020B0600000101010101" charset="-127"/>
                  </a:rPr>
                  <a:t>역할 분담</a:t>
                </a: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A149016D-9FC2-1DAA-0721-BF61DF1018CF}"/>
                </a:ext>
              </a:extLst>
            </p:cNvPr>
            <p:cNvGrpSpPr/>
            <p:nvPr/>
          </p:nvGrpSpPr>
          <p:grpSpPr>
            <a:xfrm>
              <a:off x="6454034" y="2598003"/>
              <a:ext cx="1970776" cy="553998"/>
              <a:chOff x="6454034" y="2598003"/>
              <a:chExt cx="1970776" cy="553998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3B266C-16AA-D8EA-2965-BBB03633A0F6}"/>
                  </a:ext>
                </a:extLst>
              </p:cNvPr>
              <p:cNvSpPr txBox="1"/>
              <p:nvPr/>
            </p:nvSpPr>
            <p:spPr>
              <a:xfrm>
                <a:off x="6454034" y="2598003"/>
                <a:ext cx="6174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>
                    <a:solidFill>
                      <a:srgbClr val="69DEAD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05</a:t>
                </a:r>
                <a:endParaRPr lang="ko-KR" altLang="en-US" sz="3000" b="1" dirty="0">
                  <a:solidFill>
                    <a:srgbClr val="69DEA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DBA58F-C6BF-157A-142C-2347F9740C60}"/>
                  </a:ext>
                </a:extLst>
              </p:cNvPr>
              <p:cNvSpPr txBox="1"/>
              <p:nvPr/>
            </p:nvSpPr>
            <p:spPr>
              <a:xfrm>
                <a:off x="7249488" y="2642763"/>
                <a:ext cx="1175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 Smart UI Bold" panose="020B0800000101010101" pitchFamily="50" charset="-127"/>
                    <a:ea typeface="LG Smart UI Bold" panose="020B0800000101010101" pitchFamily="50" charset="-127"/>
                    <a:cs typeface="KoPubWorld돋움체 Light" panose="00000300000000000000" pitchFamily="2" charset="-127"/>
                  </a:rPr>
                  <a:t>개발 일정 </a:t>
                </a:r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6B09BD0-973C-EEA3-4C33-2498A6E119A8}"/>
              </a:ext>
            </a:extLst>
          </p:cNvPr>
          <p:cNvSpPr txBox="1"/>
          <p:nvPr/>
        </p:nvSpPr>
        <p:spPr>
          <a:xfrm>
            <a:off x="8967792" y="3703687"/>
            <a:ext cx="6174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>
                <a:solidFill>
                  <a:srgbClr val="69DEA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06</a:t>
            </a:r>
            <a:endParaRPr lang="ko-KR" altLang="en-US" sz="3000" b="1" dirty="0">
              <a:solidFill>
                <a:srgbClr val="69DEAD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C83586-D662-0841-2725-60C89C0233DC}"/>
              </a:ext>
            </a:extLst>
          </p:cNvPr>
          <p:cNvSpPr txBox="1"/>
          <p:nvPr/>
        </p:nvSpPr>
        <p:spPr>
          <a:xfrm>
            <a:off x="9725174" y="3753088"/>
            <a:ext cx="1598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기능도 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0426581-EFF2-F74B-1DAF-F3FE6DA9E48B}"/>
              </a:ext>
            </a:extLst>
          </p:cNvPr>
          <p:cNvGrpSpPr/>
          <p:nvPr/>
        </p:nvGrpSpPr>
        <p:grpSpPr>
          <a:xfrm>
            <a:off x="2866400" y="5084057"/>
            <a:ext cx="4494949" cy="553998"/>
            <a:chOff x="3403338" y="2598003"/>
            <a:chExt cx="4494949" cy="553998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A328453-6F68-22A4-82C6-9173CD627EEE}"/>
                </a:ext>
              </a:extLst>
            </p:cNvPr>
            <p:cNvGrpSpPr/>
            <p:nvPr/>
          </p:nvGrpSpPr>
          <p:grpSpPr>
            <a:xfrm>
              <a:off x="3403338" y="2598003"/>
              <a:ext cx="2490633" cy="553998"/>
              <a:chOff x="3403338" y="2598003"/>
              <a:chExt cx="2490633" cy="553998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EB7763-CE1D-2CEA-5935-629DEF921459}"/>
                  </a:ext>
                </a:extLst>
              </p:cNvPr>
              <p:cNvSpPr txBox="1"/>
              <p:nvPr/>
            </p:nvSpPr>
            <p:spPr>
              <a:xfrm>
                <a:off x="3403338" y="2598003"/>
                <a:ext cx="6174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>
                    <a:solidFill>
                      <a:srgbClr val="69DEAD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07</a:t>
                </a:r>
                <a:endParaRPr lang="ko-KR" altLang="en-US" sz="3000" b="1" dirty="0">
                  <a:solidFill>
                    <a:srgbClr val="69DEA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037069F-C529-FDFD-479F-FB1950376E7D}"/>
                  </a:ext>
                </a:extLst>
              </p:cNvPr>
              <p:cNvSpPr txBox="1"/>
              <p:nvPr/>
            </p:nvSpPr>
            <p:spPr>
              <a:xfrm>
                <a:off x="4083860" y="2614708"/>
                <a:ext cx="18101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 Smart UI Bold" panose="020B0800000101010101" pitchFamily="50" charset="-127"/>
                    <a:ea typeface="LG Smart UI Bold" panose="020B0800000101010101" pitchFamily="50" charset="-127"/>
                    <a:cs typeface="KoPubWorld돋움체 Light" panose="020B0600000101010101" charset="-127"/>
                  </a:rPr>
                  <a:t>시스템 주요 기능</a:t>
                </a: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029EC14B-5426-8B17-1BDF-DB0C18E43344}"/>
                </a:ext>
              </a:extLst>
            </p:cNvPr>
            <p:cNvGrpSpPr/>
            <p:nvPr/>
          </p:nvGrpSpPr>
          <p:grpSpPr>
            <a:xfrm>
              <a:off x="6454034" y="2598003"/>
              <a:ext cx="1444253" cy="553998"/>
              <a:chOff x="6454034" y="2598003"/>
              <a:chExt cx="1444253" cy="553998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9EF8D1E-502F-ED93-0CF6-E617219D33FC}"/>
                  </a:ext>
                </a:extLst>
              </p:cNvPr>
              <p:cNvSpPr txBox="1"/>
              <p:nvPr/>
            </p:nvSpPr>
            <p:spPr>
              <a:xfrm>
                <a:off x="6454034" y="2598003"/>
                <a:ext cx="6174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000" b="1" dirty="0">
                    <a:solidFill>
                      <a:srgbClr val="69DEAD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08</a:t>
                </a:r>
                <a:endParaRPr lang="ko-KR" altLang="en-US" sz="3000" b="1" dirty="0">
                  <a:solidFill>
                    <a:srgbClr val="69DEAD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484C30A-3A2A-7EA3-6AA2-D2B2CA90EB66}"/>
                  </a:ext>
                </a:extLst>
              </p:cNvPr>
              <p:cNvSpPr txBox="1"/>
              <p:nvPr/>
            </p:nvSpPr>
            <p:spPr>
              <a:xfrm>
                <a:off x="7232720" y="2613860"/>
                <a:ext cx="6655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 Smart UI Bold" panose="020B0800000101010101" pitchFamily="50" charset="-127"/>
                    <a:ea typeface="LG Smart UI Bold" panose="020B0800000101010101" pitchFamily="50" charset="-127"/>
                    <a:cs typeface="KoPubWorld돋움체 Light" panose="00000300000000000000" pitchFamily="2" charset="-127"/>
                  </a:rPr>
                  <a:t>시연</a:t>
                </a:r>
                <a:r>
                  <a:rPr lang="ko-KR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 Smart UI Bold" panose="020B0800000101010101" pitchFamily="50" charset="-127"/>
                    <a:ea typeface="LG Smart UI Bold" panose="020B0800000101010101" pitchFamily="50" charset="-127"/>
                    <a:cs typeface="KoPubWorld돋움체 Light" panose="00000300000000000000" pitchFamily="2" charset="-127"/>
                  </a:rPr>
                  <a:t> </a:t>
                </a:r>
              </a:p>
            </p:txBody>
          </p: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1556BE69-C36D-5A9D-6003-695523E1F206}"/>
              </a:ext>
            </a:extLst>
          </p:cNvPr>
          <p:cNvSpPr txBox="1"/>
          <p:nvPr/>
        </p:nvSpPr>
        <p:spPr>
          <a:xfrm>
            <a:off x="8967792" y="5084057"/>
            <a:ext cx="6174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>
                <a:solidFill>
                  <a:srgbClr val="69DEA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09</a:t>
            </a:r>
            <a:endParaRPr lang="ko-KR" altLang="en-US" sz="3000" b="1" dirty="0">
              <a:solidFill>
                <a:srgbClr val="69DEAD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227923-0671-E815-9D95-53727F49EDB8}"/>
              </a:ext>
            </a:extLst>
          </p:cNvPr>
          <p:cNvSpPr txBox="1"/>
          <p:nvPr/>
        </p:nvSpPr>
        <p:spPr>
          <a:xfrm>
            <a:off x="9585269" y="5108570"/>
            <a:ext cx="2521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보완 사항 및 개발 후기  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31F7F41-4514-38AF-01E0-7B28B7C6DD96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E3C7057-6FF3-396F-34E6-051965C8E240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86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4883CBA-AFCE-9D20-03C9-2B4984CFD60B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EFDC79-0684-BB5F-80E9-DED1C30E2E31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9661C9-6D14-F037-795B-1AAC8576E130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5BB39E-44D3-4795-1B7D-FC28BDFA57E6}"/>
              </a:ext>
            </a:extLst>
          </p:cNvPr>
          <p:cNvSpPr txBox="1"/>
          <p:nvPr/>
        </p:nvSpPr>
        <p:spPr>
          <a:xfrm>
            <a:off x="1559154" y="1174498"/>
            <a:ext cx="111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주제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E5AEFCF-C38D-8601-7F60-EEAD8E8B5449}"/>
              </a:ext>
            </a:extLst>
          </p:cNvPr>
          <p:cNvSpPr/>
          <p:nvPr/>
        </p:nvSpPr>
        <p:spPr>
          <a:xfrm>
            <a:off x="1559153" y="1607438"/>
            <a:ext cx="9073693" cy="1201657"/>
          </a:xfrm>
          <a:prstGeom prst="roundRect">
            <a:avLst/>
          </a:prstGeom>
          <a:solidFill>
            <a:srgbClr val="E2E2E2"/>
          </a:solidFill>
          <a:ln>
            <a:solidFill>
              <a:srgbClr val="69DE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defTabSz="1466850" latinLnBrk="1">
              <a:spcAft>
                <a:spcPct val="15000"/>
              </a:spcAft>
            </a:pPr>
            <a:r>
              <a:rPr lang="en-US" altLang="ko-KR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특정 취미의 업데이트 소식을 받거나</a:t>
            </a:r>
            <a:r>
              <a:rPr lang="en-US" altLang="ko-KR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게시판을 통해 서로의 취미를 공유할 수 있고 채팅으로 취미에 관해 소통할 수 있는 모바일 앱</a:t>
            </a:r>
            <a:endParaRPr lang="en-US" altLang="ko-KR" sz="1800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AD253-BF8E-D9AB-DC32-2706A229AC4E}"/>
              </a:ext>
            </a:extLst>
          </p:cNvPr>
          <p:cNvSpPr txBox="1"/>
          <p:nvPr/>
        </p:nvSpPr>
        <p:spPr>
          <a:xfrm>
            <a:off x="1559154" y="3251114"/>
            <a:ext cx="1853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60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개발 동기</a:t>
            </a:r>
            <a:endParaRPr lang="ko-KR" altLang="en-US" sz="20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8F25594-F743-4D0B-6FAA-642D37BF652B}"/>
              </a:ext>
            </a:extLst>
          </p:cNvPr>
          <p:cNvSpPr/>
          <p:nvPr/>
        </p:nvSpPr>
        <p:spPr>
          <a:xfrm>
            <a:off x="1559154" y="3684054"/>
            <a:ext cx="9073692" cy="1201657"/>
          </a:xfrm>
          <a:prstGeom prst="roundRect">
            <a:avLst/>
          </a:prstGeom>
          <a:solidFill>
            <a:srgbClr val="E2E2E2"/>
          </a:solidFill>
          <a:ln>
            <a:solidFill>
              <a:srgbClr val="69DE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defTabSz="1466850" latinLnBrk="1">
              <a:spcAft>
                <a:spcPct val="15000"/>
              </a:spcAft>
            </a:pPr>
            <a:r>
              <a:rPr lang="en-US" altLang="ko-KR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취미생활을 좀 더 다채롭게 즐겨보고</a:t>
            </a:r>
            <a:r>
              <a:rPr lang="en-US" altLang="ko-KR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이전에 관심이 없던 취미의 정보를 얻을 수 있는 어플리케이션을 개발</a:t>
            </a:r>
            <a:endParaRPr lang="en-US" altLang="ko-KR" sz="1800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DB893-D635-E31B-FDF1-CED71CAD761A}"/>
              </a:ext>
            </a:extLst>
          </p:cNvPr>
          <p:cNvSpPr txBox="1"/>
          <p:nvPr/>
        </p:nvSpPr>
        <p:spPr>
          <a:xfrm>
            <a:off x="477893" y="147301"/>
            <a:ext cx="26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3890782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FC0C110-A16C-24C6-C96D-57C8455FC072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C7D135-9F08-6529-AEDC-9AF4FE0CFD9F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3792CA-B0EF-B11A-8487-07F83E78568C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0428F8-1832-9D80-31F4-69981C5F578A}"/>
              </a:ext>
            </a:extLst>
          </p:cNvPr>
          <p:cNvSpPr txBox="1"/>
          <p:nvPr/>
        </p:nvSpPr>
        <p:spPr>
          <a:xfrm>
            <a:off x="477893" y="147301"/>
            <a:ext cx="26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요구분석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CDC18-86D3-911C-DC4C-AAC668692162}"/>
              </a:ext>
            </a:extLst>
          </p:cNvPr>
          <p:cNvSpPr txBox="1"/>
          <p:nvPr/>
        </p:nvSpPr>
        <p:spPr>
          <a:xfrm>
            <a:off x="1559154" y="1174498"/>
            <a:ext cx="1113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사용자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1E247-1252-408A-03CE-5888F3D1E033}"/>
              </a:ext>
            </a:extLst>
          </p:cNvPr>
          <p:cNvSpPr txBox="1"/>
          <p:nvPr/>
        </p:nvSpPr>
        <p:spPr>
          <a:xfrm>
            <a:off x="1559153" y="3411094"/>
            <a:ext cx="1853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관리자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2FAD4E1-37F0-521C-47DA-E3C42B233248}"/>
              </a:ext>
            </a:extLst>
          </p:cNvPr>
          <p:cNvSpPr/>
          <p:nvPr/>
        </p:nvSpPr>
        <p:spPr>
          <a:xfrm>
            <a:off x="1559153" y="1607438"/>
            <a:ext cx="9073693" cy="1591604"/>
          </a:xfrm>
          <a:prstGeom prst="roundRect">
            <a:avLst/>
          </a:prstGeom>
          <a:solidFill>
            <a:srgbClr val="E2E2E2"/>
          </a:solidFill>
          <a:ln>
            <a:solidFill>
              <a:srgbClr val="69DE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r>
              <a:rPr lang="ko-KR" altLang="en-US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취미 업데이트 기능</a:t>
            </a:r>
            <a:endParaRPr lang="en-US" altLang="ko-KR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특정 취미 게시판에 게시글 작성 및 삭제 기능</a:t>
            </a:r>
            <a:endParaRPr lang="en-US" altLang="ko-KR" sz="1800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r>
              <a:rPr lang="ko-KR" altLang="en-US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오픈채팅방 기능</a:t>
            </a:r>
            <a:endParaRPr lang="en-US" altLang="ko-KR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프로필 수정 기능</a:t>
            </a:r>
            <a:endParaRPr lang="en-US" altLang="ko-KR" sz="1800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09FE471-DD25-8C67-8E38-E03E4E6FFC71}"/>
              </a:ext>
            </a:extLst>
          </p:cNvPr>
          <p:cNvSpPr/>
          <p:nvPr/>
        </p:nvSpPr>
        <p:spPr>
          <a:xfrm>
            <a:off x="1559153" y="3993717"/>
            <a:ext cx="9073692" cy="1591604"/>
          </a:xfrm>
          <a:prstGeom prst="roundRect">
            <a:avLst/>
          </a:prstGeom>
          <a:solidFill>
            <a:srgbClr val="E2E2E2"/>
          </a:solidFill>
          <a:ln>
            <a:solidFill>
              <a:srgbClr val="69DE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취미 업데이트 및 삭제 기능</a:t>
            </a:r>
            <a:endParaRPr lang="en-US" altLang="ko-KR" sz="1800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r>
              <a:rPr lang="ko-KR" altLang="en-US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게시판 문의 소통</a:t>
            </a:r>
            <a:r>
              <a:rPr lang="en-US" altLang="ko-KR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채팅</a:t>
            </a:r>
            <a:r>
              <a:rPr lang="en-US" altLang="ko-KR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기능</a:t>
            </a:r>
            <a:endParaRPr lang="en-US" altLang="ko-KR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공지사항 등록 기능</a:t>
            </a:r>
            <a:endParaRPr lang="en-US" altLang="ko-KR" sz="1800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066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EC096E5-71C0-4517-E558-E2F6CEB23238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AA9627-3AA2-4DEC-42FC-F035C1D81663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77938E-C0E1-024A-C1FE-2D243F233E26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996929-F9AE-65F5-EAE1-1E2E4C83A50B}"/>
              </a:ext>
            </a:extLst>
          </p:cNvPr>
          <p:cNvSpPr txBox="1"/>
          <p:nvPr/>
        </p:nvSpPr>
        <p:spPr>
          <a:xfrm>
            <a:off x="2829409" y="2038906"/>
            <a:ext cx="1376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600" dirty="0">
                <a:solidFill>
                  <a:srgbClr val="69DEAD"/>
                </a:solidFill>
                <a:latin typeface="LG PC" panose="02030504000101010101" pitchFamily="18" charset="-127"/>
                <a:ea typeface="LG PC" panose="02030504000101010101" pitchFamily="18" charset="-127"/>
                <a:cs typeface="Mangal" panose="020B0502040204020203" pitchFamily="18" charset="0"/>
              </a:rPr>
              <a:t>운영체제</a:t>
            </a:r>
          </a:p>
        </p:txBody>
      </p:sp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6C7AD298-D542-D31F-A5A2-DCEA0C41F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394" y="3119038"/>
            <a:ext cx="2601332" cy="4775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86F955-692C-5CCA-24EE-55E7E769398B}"/>
              </a:ext>
            </a:extLst>
          </p:cNvPr>
          <p:cNvSpPr txBox="1"/>
          <p:nvPr/>
        </p:nvSpPr>
        <p:spPr>
          <a:xfrm>
            <a:off x="6096000" y="2066132"/>
            <a:ext cx="1633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600" dirty="0">
                <a:solidFill>
                  <a:srgbClr val="69DEAD"/>
                </a:solidFill>
                <a:latin typeface="LG PC" panose="02030504000101010101" pitchFamily="18" charset="-127"/>
                <a:ea typeface="LG PC" panose="02030504000101010101" pitchFamily="18" charset="-127"/>
                <a:cs typeface="Mangal" panose="020B0502040204020203" pitchFamily="18" charset="0"/>
              </a:rPr>
              <a:t>개발 도구</a:t>
            </a:r>
          </a:p>
        </p:txBody>
      </p:sp>
      <p:pic>
        <p:nvPicPr>
          <p:cNvPr id="18" name="그림 17" descr="그래픽, 폰트, 로고, 상징이(가) 표시된 사진&#10;&#10;자동 생성된 설명">
            <a:extLst>
              <a:ext uri="{FF2B5EF4-FFF2-40B4-BE49-F238E27FC236}">
                <a16:creationId xmlns:a16="http://schemas.microsoft.com/office/drawing/2014/main" id="{CD34CFA3-EE87-36FA-D9FD-055B96D72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409" y="2705007"/>
            <a:ext cx="2060477" cy="1305649"/>
          </a:xfrm>
          <a:prstGeom prst="rect">
            <a:avLst/>
          </a:prstGeom>
        </p:spPr>
      </p:pic>
      <p:pic>
        <p:nvPicPr>
          <p:cNvPr id="21" name="그림 20" descr="노랑, 디자인이(가) 표시된 사진&#10;&#10;자동 생성된 설명">
            <a:extLst>
              <a:ext uri="{FF2B5EF4-FFF2-40B4-BE49-F238E27FC236}">
                <a16:creationId xmlns:a16="http://schemas.microsoft.com/office/drawing/2014/main" id="{63BE56FE-164D-14DB-FDCF-A5898595D0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767" y="4010656"/>
            <a:ext cx="2886324" cy="9921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71B23C4-04F2-8ADE-3F99-71A8AAEB61DA}"/>
              </a:ext>
            </a:extLst>
          </p:cNvPr>
          <p:cNvSpPr txBox="1"/>
          <p:nvPr/>
        </p:nvSpPr>
        <p:spPr>
          <a:xfrm>
            <a:off x="9619056" y="2109248"/>
            <a:ext cx="1633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600" dirty="0">
                <a:solidFill>
                  <a:srgbClr val="69DEAD"/>
                </a:solidFill>
                <a:latin typeface="LG PC" panose="02030504000101010101" pitchFamily="18" charset="-127"/>
                <a:ea typeface="LG PC" panose="02030504000101010101" pitchFamily="18" charset="-127"/>
                <a:cs typeface="Mangal" panose="020B0502040204020203" pitchFamily="18" charset="0"/>
              </a:rPr>
              <a:t>개발 언어</a:t>
            </a:r>
          </a:p>
        </p:txBody>
      </p:sp>
      <p:pic>
        <p:nvPicPr>
          <p:cNvPr id="24" name="그림 23" descr="그래픽, 폰트, 로고, 디자인이(가) 표시된 사진&#10;&#10;자동 생성된 설명">
            <a:extLst>
              <a:ext uri="{FF2B5EF4-FFF2-40B4-BE49-F238E27FC236}">
                <a16:creationId xmlns:a16="http://schemas.microsoft.com/office/drawing/2014/main" id="{C2F147F7-4785-63B2-76EB-73B85D0BB8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968" y="2705007"/>
            <a:ext cx="2536328" cy="12681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C2FB50-EB5E-44A6-55B4-22B7E1D87A69}"/>
              </a:ext>
            </a:extLst>
          </p:cNvPr>
          <p:cNvSpPr txBox="1"/>
          <p:nvPr/>
        </p:nvSpPr>
        <p:spPr>
          <a:xfrm>
            <a:off x="477893" y="147301"/>
            <a:ext cx="26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개발 환경</a:t>
            </a:r>
          </a:p>
        </p:txBody>
      </p:sp>
    </p:spTree>
    <p:extLst>
      <p:ext uri="{BB962C8B-B14F-4D97-AF65-F5344CB8AC3E}">
        <p14:creationId xmlns:p14="http://schemas.microsoft.com/office/powerpoint/2010/main" val="3572395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95E9270-E278-8277-0A69-BFDA136B8A81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A60F32-4075-368C-22A7-3231A48A0D54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7E526A-7625-F401-A411-8305E5FC6FB5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FAEB7CB8-90B1-48C8-788C-1061BB6E9F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7661012"/>
              </p:ext>
            </p:extLst>
          </p:nvPr>
        </p:nvGraphicFramePr>
        <p:xfrm>
          <a:off x="2118394" y="1477443"/>
          <a:ext cx="8591872" cy="462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C20DCE6-D68C-C008-0411-5ED7271F386D}"/>
              </a:ext>
            </a:extLst>
          </p:cNvPr>
          <p:cNvSpPr txBox="1"/>
          <p:nvPr/>
        </p:nvSpPr>
        <p:spPr>
          <a:xfrm>
            <a:off x="477893" y="147301"/>
            <a:ext cx="26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역할 분담</a:t>
            </a:r>
          </a:p>
        </p:txBody>
      </p:sp>
    </p:spTree>
    <p:extLst>
      <p:ext uri="{BB962C8B-B14F-4D97-AF65-F5344CB8AC3E}">
        <p14:creationId xmlns:p14="http://schemas.microsoft.com/office/powerpoint/2010/main" val="1792196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93BC383-6EFB-C64A-A4BF-7611C076CE7D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11B62B-72ED-8A2B-646E-59AA9A906AD0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D92BAE-FB64-09CF-B12D-8D310121038D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6FA03F8-377F-19CF-B883-208A20265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830642"/>
              </p:ext>
            </p:extLst>
          </p:nvPr>
        </p:nvGraphicFramePr>
        <p:xfrm>
          <a:off x="1279255" y="1211136"/>
          <a:ext cx="9796913" cy="4844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1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28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28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28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21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개발일정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7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프로젝트 </a:t>
                      </a:r>
                      <a:endParaRPr lang="en-US" altLang="ko-KR" sz="1600" b="1" dirty="0"/>
                    </a:p>
                    <a:p>
                      <a:pPr algn="ctr" latinLnBrk="1"/>
                      <a:r>
                        <a:rPr lang="ko-KR" altLang="en-US" sz="1600" b="1" dirty="0"/>
                        <a:t>기획</a:t>
                      </a:r>
                      <a:endParaRPr lang="ko-KR" altLang="en-US" sz="16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7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기초설계</a:t>
                      </a:r>
                      <a:endParaRPr lang="ko-KR" altLang="en-US" sz="16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7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세부설계</a:t>
                      </a:r>
                      <a:endParaRPr lang="ko-KR" altLang="en-US" sz="16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7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코딩</a:t>
                      </a:r>
                      <a:endParaRPr lang="ko-KR" altLang="en-US" sz="16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7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디자인</a:t>
                      </a:r>
                      <a:endParaRPr lang="ko-KR" altLang="en-US" sz="16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7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테스트 및 </a:t>
                      </a:r>
                      <a:endParaRPr lang="en-US" altLang="ko-KR" sz="1600" b="1" dirty="0"/>
                    </a:p>
                    <a:p>
                      <a:pPr algn="ctr" latinLnBrk="1"/>
                      <a:r>
                        <a:rPr lang="ko-KR" altLang="en-US" sz="1600" b="1" dirty="0"/>
                        <a:t>디버깅</a:t>
                      </a:r>
                      <a:endParaRPr lang="ko-KR" altLang="en-US" sz="16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9D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69C8597-F6FA-E53A-9584-B9EFBA2E6187}"/>
              </a:ext>
            </a:extLst>
          </p:cNvPr>
          <p:cNvSpPr txBox="1"/>
          <p:nvPr/>
        </p:nvSpPr>
        <p:spPr>
          <a:xfrm>
            <a:off x="477893" y="147301"/>
            <a:ext cx="26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개발 일정</a:t>
            </a:r>
          </a:p>
        </p:txBody>
      </p:sp>
    </p:spTree>
    <p:extLst>
      <p:ext uri="{BB962C8B-B14F-4D97-AF65-F5344CB8AC3E}">
        <p14:creationId xmlns:p14="http://schemas.microsoft.com/office/powerpoint/2010/main" val="2318593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991B9CE-8CD9-3A72-9FA0-5452132195EA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38200F-4741-9455-F1F5-C6520D123388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36DFC7-B118-69EE-EB5B-941DE1DD192C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4E9DCC-3094-6E82-605D-1DF1A47944A9}"/>
              </a:ext>
            </a:extLst>
          </p:cNvPr>
          <p:cNvSpPr/>
          <p:nvPr/>
        </p:nvSpPr>
        <p:spPr>
          <a:xfrm rot="5400000">
            <a:off x="-3268065" y="3276933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BAB74E-3DAB-5290-A328-BF53A166C493}"/>
              </a:ext>
            </a:extLst>
          </p:cNvPr>
          <p:cNvSpPr txBox="1"/>
          <p:nvPr/>
        </p:nvSpPr>
        <p:spPr>
          <a:xfrm>
            <a:off x="477893" y="147301"/>
            <a:ext cx="26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기능도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8169A1-34A9-7034-0D6F-816255968EE8}"/>
              </a:ext>
            </a:extLst>
          </p:cNvPr>
          <p:cNvSpPr/>
          <p:nvPr/>
        </p:nvSpPr>
        <p:spPr>
          <a:xfrm>
            <a:off x="880877" y="1042180"/>
            <a:ext cx="1191067" cy="371023"/>
          </a:xfrm>
          <a:prstGeom prst="rect">
            <a:avLst/>
          </a:prstGeom>
          <a:solidFill>
            <a:srgbClr val="4ABD8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사용자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DC2C4C-AC82-D7F1-75F2-4A2A4CFB7A15}"/>
              </a:ext>
            </a:extLst>
          </p:cNvPr>
          <p:cNvSpPr/>
          <p:nvPr/>
        </p:nvSpPr>
        <p:spPr>
          <a:xfrm>
            <a:off x="1476411" y="1641813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C6AA880-E227-FFDD-F3FC-E5FC8FC914AD}"/>
              </a:ext>
            </a:extLst>
          </p:cNvPr>
          <p:cNvSpPr/>
          <p:nvPr/>
        </p:nvSpPr>
        <p:spPr>
          <a:xfrm>
            <a:off x="1476411" y="2167308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게시판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85C732-5A53-B766-D767-0EB723464905}"/>
              </a:ext>
            </a:extLst>
          </p:cNvPr>
          <p:cNvSpPr/>
          <p:nvPr/>
        </p:nvSpPr>
        <p:spPr>
          <a:xfrm>
            <a:off x="7048632" y="1329586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오픈채팅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54EB0C-A398-0D7D-6533-8BEFF118A465}"/>
              </a:ext>
            </a:extLst>
          </p:cNvPr>
          <p:cNvSpPr/>
          <p:nvPr/>
        </p:nvSpPr>
        <p:spPr>
          <a:xfrm>
            <a:off x="7048632" y="2043098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메뉴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6BAE5C-9173-C347-B98D-ECF39F8675CB}"/>
              </a:ext>
            </a:extLst>
          </p:cNvPr>
          <p:cNvSpPr/>
          <p:nvPr/>
        </p:nvSpPr>
        <p:spPr>
          <a:xfrm>
            <a:off x="1476411" y="3178394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마이페이지</a:t>
            </a: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02E0101A-ED60-803C-830A-02081FEFDEE4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300676" y="2188170"/>
            <a:ext cx="1950701" cy="400770"/>
          </a:xfrm>
          <a:prstGeom prst="bentConnector2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FA6B2EF-9C08-C5BB-BB05-31E48244DC7C}"/>
              </a:ext>
            </a:extLst>
          </p:cNvPr>
          <p:cNvCxnSpPr>
            <a:cxnSpLocks/>
          </p:cNvCxnSpPr>
          <p:nvPr/>
        </p:nvCxnSpPr>
        <p:spPr>
          <a:xfrm>
            <a:off x="1075642" y="1827324"/>
            <a:ext cx="40076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DE7A80F-0BCF-1AA6-258B-B4DDB477822E}"/>
              </a:ext>
            </a:extLst>
          </p:cNvPr>
          <p:cNvCxnSpPr>
            <a:cxnSpLocks/>
          </p:cNvCxnSpPr>
          <p:nvPr/>
        </p:nvCxnSpPr>
        <p:spPr>
          <a:xfrm>
            <a:off x="1075642" y="2365165"/>
            <a:ext cx="40076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11BB54-7CA0-E20F-FE7D-9B989BD25D27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673969" y="1515098"/>
            <a:ext cx="1374663" cy="17299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99C3360-B20F-BE58-2C0C-44086705A686}"/>
              </a:ext>
            </a:extLst>
          </p:cNvPr>
          <p:cNvCxnSpPr>
            <a:cxnSpLocks/>
          </p:cNvCxnSpPr>
          <p:nvPr/>
        </p:nvCxnSpPr>
        <p:spPr>
          <a:xfrm>
            <a:off x="2667478" y="2365165"/>
            <a:ext cx="40076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BE704A-7036-1963-B595-60F0F2012A8C}"/>
              </a:ext>
            </a:extLst>
          </p:cNvPr>
          <p:cNvSpPr/>
          <p:nvPr/>
        </p:nvSpPr>
        <p:spPr>
          <a:xfrm>
            <a:off x="3068246" y="2167307"/>
            <a:ext cx="2378562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취미 </a:t>
            </a:r>
            <a:r>
              <a:rPr lang="ko-KR" altLang="en-US" sz="1500"/>
              <a:t>게시판 등록</a:t>
            </a:r>
            <a:r>
              <a:rPr lang="en-US" altLang="ko-KR" sz="1500" dirty="0"/>
              <a:t> </a:t>
            </a:r>
            <a:r>
              <a:rPr lang="ko-KR" altLang="en-US" sz="1500" dirty="0"/>
              <a:t>및</a:t>
            </a:r>
            <a:r>
              <a:rPr lang="en-US" altLang="ko-KR" sz="1500" dirty="0"/>
              <a:t> </a:t>
            </a:r>
            <a:r>
              <a:rPr lang="ko-KR" altLang="en-US" sz="1500" dirty="0"/>
              <a:t>삭제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C9B0139-7B57-8010-CCCC-53A5756A7E8F}"/>
              </a:ext>
            </a:extLst>
          </p:cNvPr>
          <p:cNvCxnSpPr>
            <a:cxnSpLocks/>
          </p:cNvCxnSpPr>
          <p:nvPr/>
        </p:nvCxnSpPr>
        <p:spPr>
          <a:xfrm>
            <a:off x="2667478" y="3387995"/>
            <a:ext cx="40076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DDDD838-5B95-7188-5325-704E3142F7A2}"/>
              </a:ext>
            </a:extLst>
          </p:cNvPr>
          <p:cNvSpPr/>
          <p:nvPr/>
        </p:nvSpPr>
        <p:spPr>
          <a:xfrm>
            <a:off x="3068246" y="3182711"/>
            <a:ext cx="1409969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프로필 수정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47E1C74-BA1B-0D72-7D17-FE9E0A379C6E}"/>
              </a:ext>
            </a:extLst>
          </p:cNvPr>
          <p:cNvCxnSpPr>
            <a:cxnSpLocks/>
          </p:cNvCxnSpPr>
          <p:nvPr/>
        </p:nvCxnSpPr>
        <p:spPr>
          <a:xfrm>
            <a:off x="8249687" y="1502522"/>
            <a:ext cx="40076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17A336-8CDA-1080-F375-BFD3F563784E}"/>
              </a:ext>
            </a:extLst>
          </p:cNvPr>
          <p:cNvSpPr/>
          <p:nvPr/>
        </p:nvSpPr>
        <p:spPr>
          <a:xfrm>
            <a:off x="8650456" y="1317010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오픈채팅방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1D589E0-0E31-6F9B-B864-FC9A5C3CC757}"/>
              </a:ext>
            </a:extLst>
          </p:cNvPr>
          <p:cNvCxnSpPr>
            <a:cxnSpLocks/>
          </p:cNvCxnSpPr>
          <p:nvPr/>
        </p:nvCxnSpPr>
        <p:spPr>
          <a:xfrm>
            <a:off x="8249687" y="2240842"/>
            <a:ext cx="40076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A951A09-55EC-A865-629C-5D655F7F24D4}"/>
              </a:ext>
            </a:extLst>
          </p:cNvPr>
          <p:cNvSpPr/>
          <p:nvPr/>
        </p:nvSpPr>
        <p:spPr>
          <a:xfrm>
            <a:off x="8650456" y="2043098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로그아웃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454AB37-7337-A95D-155F-D7989DC4E5AE}"/>
              </a:ext>
            </a:extLst>
          </p:cNvPr>
          <p:cNvSpPr/>
          <p:nvPr/>
        </p:nvSpPr>
        <p:spPr>
          <a:xfrm>
            <a:off x="8650456" y="2608139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공지사항</a:t>
            </a:r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420188BF-9151-0B93-1029-9EAA55CD5F4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071944" y="1227692"/>
            <a:ext cx="4976688" cy="1000918"/>
          </a:xfrm>
          <a:prstGeom prst="bentConnector3">
            <a:avLst>
              <a:gd name="adj1" fmla="val 72025"/>
            </a:avLst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2A49B38-D9BC-B210-98D0-27FF61FD1E6B}"/>
              </a:ext>
            </a:extLst>
          </p:cNvPr>
          <p:cNvSpPr/>
          <p:nvPr/>
        </p:nvSpPr>
        <p:spPr>
          <a:xfrm>
            <a:off x="8650456" y="3166670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문의하기</a:t>
            </a: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ABCFDF13-FABF-6C5F-F78D-2ECAC065B566}"/>
              </a:ext>
            </a:extLst>
          </p:cNvPr>
          <p:cNvCxnSpPr>
            <a:cxnSpLocks/>
            <a:stCxn id="12" idx="2"/>
            <a:endCxn id="56" idx="1"/>
          </p:cNvCxnSpPr>
          <p:nvPr/>
        </p:nvCxnSpPr>
        <p:spPr>
          <a:xfrm rot="16200000" flipH="1">
            <a:off x="7678280" y="2380006"/>
            <a:ext cx="938061" cy="1006291"/>
          </a:xfrm>
          <a:prstGeom prst="bentConnector2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553C77E-5079-6842-6B28-DDE227200B38}"/>
              </a:ext>
            </a:extLst>
          </p:cNvPr>
          <p:cNvCxnSpPr>
            <a:cxnSpLocks/>
          </p:cNvCxnSpPr>
          <p:nvPr/>
        </p:nvCxnSpPr>
        <p:spPr>
          <a:xfrm>
            <a:off x="7644164" y="2793650"/>
            <a:ext cx="996303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3DF3CC1-C960-45E1-7011-F4D7EA6DD87C}"/>
              </a:ext>
            </a:extLst>
          </p:cNvPr>
          <p:cNvSpPr/>
          <p:nvPr/>
        </p:nvSpPr>
        <p:spPr>
          <a:xfrm>
            <a:off x="880877" y="4684500"/>
            <a:ext cx="1191067" cy="371023"/>
          </a:xfrm>
          <a:prstGeom prst="rect">
            <a:avLst/>
          </a:prstGeom>
          <a:solidFill>
            <a:srgbClr val="4ABD8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관리자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29C9771-7E56-008C-AE24-6D0D1F423F63}"/>
              </a:ext>
            </a:extLst>
          </p:cNvPr>
          <p:cNvSpPr/>
          <p:nvPr/>
        </p:nvSpPr>
        <p:spPr>
          <a:xfrm>
            <a:off x="2869765" y="5899037"/>
            <a:ext cx="1608449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공지사항 등록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354B2E3-59EE-1459-EFED-8E2E4E1CBBDB}"/>
              </a:ext>
            </a:extLst>
          </p:cNvPr>
          <p:cNvSpPr/>
          <p:nvPr/>
        </p:nvSpPr>
        <p:spPr>
          <a:xfrm>
            <a:off x="2822891" y="4681647"/>
            <a:ext cx="1451633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취미 업데이트  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64C2F13-4AD1-64C1-6F7F-F1EEEEAF04CC}"/>
              </a:ext>
            </a:extLst>
          </p:cNvPr>
          <p:cNvSpPr/>
          <p:nvPr/>
        </p:nvSpPr>
        <p:spPr>
          <a:xfrm>
            <a:off x="2822890" y="5286072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문의하기</a:t>
            </a:r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F9E75C6B-EC7A-08DD-FE65-858E8AE89C12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1476411" y="5052671"/>
            <a:ext cx="1393354" cy="1031878"/>
          </a:xfrm>
          <a:prstGeom prst="bentConnector3">
            <a:avLst>
              <a:gd name="adj1" fmla="val 360"/>
            </a:avLst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7C0932BB-C1AE-B434-D96E-A3F8C525914A}"/>
              </a:ext>
            </a:extLst>
          </p:cNvPr>
          <p:cNvCxnSpPr>
            <a:cxnSpLocks/>
            <a:endCxn id="68" idx="1"/>
          </p:cNvCxnSpPr>
          <p:nvPr/>
        </p:nvCxnSpPr>
        <p:spPr>
          <a:xfrm flipV="1">
            <a:off x="1476411" y="5471585"/>
            <a:ext cx="1346479" cy="1244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AE17F2C-7878-DBDE-9A47-502247E18245}"/>
              </a:ext>
            </a:extLst>
          </p:cNvPr>
          <p:cNvCxnSpPr>
            <a:cxnSpLocks/>
            <a:endCxn id="67" idx="1"/>
          </p:cNvCxnSpPr>
          <p:nvPr/>
        </p:nvCxnSpPr>
        <p:spPr>
          <a:xfrm>
            <a:off x="2071944" y="4867159"/>
            <a:ext cx="750946" cy="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4AAFD03D-8215-EB0A-CCF0-ACF831201513}"/>
              </a:ext>
            </a:extLst>
          </p:cNvPr>
          <p:cNvCxnSpPr>
            <a:cxnSpLocks/>
          </p:cNvCxnSpPr>
          <p:nvPr/>
        </p:nvCxnSpPr>
        <p:spPr>
          <a:xfrm>
            <a:off x="2682688" y="1849301"/>
            <a:ext cx="40076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BB76804C-9437-4B95-184B-0428030F1EF9}"/>
              </a:ext>
            </a:extLst>
          </p:cNvPr>
          <p:cNvSpPr/>
          <p:nvPr/>
        </p:nvSpPr>
        <p:spPr>
          <a:xfrm>
            <a:off x="3083456" y="1644017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업데이트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7680DB63-4523-6A2C-E86B-EC9B30DCC984}"/>
              </a:ext>
            </a:extLst>
          </p:cNvPr>
          <p:cNvCxnSpPr>
            <a:cxnSpLocks/>
          </p:cNvCxnSpPr>
          <p:nvPr/>
        </p:nvCxnSpPr>
        <p:spPr>
          <a:xfrm>
            <a:off x="2068497" y="3560004"/>
            <a:ext cx="999749" cy="268560"/>
          </a:xfrm>
          <a:prstGeom prst="bentConnector3">
            <a:avLst>
              <a:gd name="adj1" fmla="val -202"/>
            </a:avLst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6263C6-B5FA-2D35-187E-71BD79277767}"/>
              </a:ext>
            </a:extLst>
          </p:cNvPr>
          <p:cNvSpPr/>
          <p:nvPr/>
        </p:nvSpPr>
        <p:spPr>
          <a:xfrm>
            <a:off x="3058252" y="3671779"/>
            <a:ext cx="2205409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내가 </a:t>
            </a:r>
            <a:r>
              <a:rPr lang="ko-KR" altLang="en-US" sz="1500" dirty="0" err="1"/>
              <a:t>찜한</a:t>
            </a:r>
            <a:r>
              <a:rPr lang="ko-KR" altLang="en-US" sz="1500" dirty="0"/>
              <a:t> 게시글 확인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FD2D0CC-A79C-1FE8-5094-752788856913}"/>
              </a:ext>
            </a:extLst>
          </p:cNvPr>
          <p:cNvSpPr/>
          <p:nvPr/>
        </p:nvSpPr>
        <p:spPr>
          <a:xfrm>
            <a:off x="4864239" y="4402870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수정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D074CC-13E1-DB67-2464-E76DB0DB4883}"/>
              </a:ext>
            </a:extLst>
          </p:cNvPr>
          <p:cNvSpPr/>
          <p:nvPr/>
        </p:nvSpPr>
        <p:spPr>
          <a:xfrm>
            <a:off x="4878466" y="4954580"/>
            <a:ext cx="1191067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삭제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97BF3AF-6D82-B843-BE76-8BC3CD5AB01C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4267659" y="4844076"/>
            <a:ext cx="610807" cy="296016"/>
          </a:xfrm>
          <a:prstGeom prst="bentConnector3">
            <a:avLst>
              <a:gd name="adj1" fmla="val 50000"/>
            </a:avLst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8874A6C1-70F6-7E5B-0F41-A88AC94A616D}"/>
              </a:ext>
            </a:extLst>
          </p:cNvPr>
          <p:cNvCxnSpPr>
            <a:cxnSpLocks/>
          </p:cNvCxnSpPr>
          <p:nvPr/>
        </p:nvCxnSpPr>
        <p:spPr>
          <a:xfrm flipV="1">
            <a:off x="4270358" y="4588382"/>
            <a:ext cx="604926" cy="250868"/>
          </a:xfrm>
          <a:prstGeom prst="bentConnector3">
            <a:avLst>
              <a:gd name="adj1" fmla="val 50000"/>
            </a:avLst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38B3BDD-8F69-8241-44C1-E2B2A71C2E98}"/>
              </a:ext>
            </a:extLst>
          </p:cNvPr>
          <p:cNvSpPr/>
          <p:nvPr/>
        </p:nvSpPr>
        <p:spPr>
          <a:xfrm>
            <a:off x="3083456" y="2681943"/>
            <a:ext cx="1409969" cy="371023"/>
          </a:xfrm>
          <a:prstGeom prst="rect">
            <a:avLst/>
          </a:prstGeom>
          <a:solidFill>
            <a:srgbClr val="69DE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댓글 달기</a:t>
            </a:r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C2986269-C157-29B0-3F87-B5588282A19E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2025664" y="2518891"/>
            <a:ext cx="1057792" cy="348564"/>
          </a:xfrm>
          <a:prstGeom prst="bentConnector3">
            <a:avLst>
              <a:gd name="adj1" fmla="val 682"/>
            </a:avLst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683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85D3E56-38AC-7D3E-E3CD-983BC97E9E2B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89CC15-1F44-F018-03F6-03D2ED50327A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0B2EBC-7D96-8048-58D2-934F1CC623C9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D7CC07-AB21-2779-582D-4506635493E7}"/>
              </a:ext>
            </a:extLst>
          </p:cNvPr>
          <p:cNvSpPr txBox="1"/>
          <p:nvPr/>
        </p:nvSpPr>
        <p:spPr>
          <a:xfrm>
            <a:off x="477893" y="147301"/>
            <a:ext cx="6360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로그인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,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회원가입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6451BC2-F0B6-E838-A4F6-7C9D36592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593" y="913354"/>
            <a:ext cx="2594661" cy="548542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029FCD5-B4A5-495D-2A5D-5B709589B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254" y="900588"/>
            <a:ext cx="2665582" cy="558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78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D3BD709-DF7A-1395-AD1D-EB5B60F39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167" y="872233"/>
            <a:ext cx="2639231" cy="559046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D59BD7B-47AF-40CB-202A-D46B4B3D5922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39B978-E40A-4CEE-BFA0-3F992B2CD688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F66227-50A3-B51D-1A11-02958CA8CC09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50764-299F-71C7-D519-3E2B0444F568}"/>
              </a:ext>
            </a:extLst>
          </p:cNvPr>
          <p:cNvSpPr txBox="1"/>
          <p:nvPr/>
        </p:nvSpPr>
        <p:spPr>
          <a:xfrm>
            <a:off x="477893" y="147301"/>
            <a:ext cx="6360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홈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94A1764-4CE5-D304-D6A3-5EA1D2D5B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658" y="860834"/>
            <a:ext cx="2660655" cy="550882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FF4BFFE-457A-EC8B-770A-A4C4BC3F2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896" y="860833"/>
            <a:ext cx="2674264" cy="5579067"/>
          </a:xfrm>
          <a:prstGeom prst="rect">
            <a:avLst/>
          </a:prstGeom>
        </p:spPr>
      </p:pic>
      <p:sp>
        <p:nvSpPr>
          <p:cNvPr id="22" name="타원 21">
            <a:extLst>
              <a:ext uri="{FF2B5EF4-FFF2-40B4-BE49-F238E27FC236}">
                <a16:creationId xmlns:a16="http://schemas.microsoft.com/office/drawing/2014/main" id="{D397DF3F-4F81-32CE-8135-A492822DB68E}"/>
              </a:ext>
            </a:extLst>
          </p:cNvPr>
          <p:cNvSpPr/>
          <p:nvPr/>
        </p:nvSpPr>
        <p:spPr>
          <a:xfrm>
            <a:off x="3611807" y="3012557"/>
            <a:ext cx="556591" cy="4850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2110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D59BD7B-47AF-40CB-202A-D46B4B3D5922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39B978-E40A-4CEE-BFA0-3F992B2CD688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F66227-50A3-B51D-1A11-02958CA8CC09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50764-299F-71C7-D519-3E2B0444F568}"/>
              </a:ext>
            </a:extLst>
          </p:cNvPr>
          <p:cNvSpPr txBox="1"/>
          <p:nvPr/>
        </p:nvSpPr>
        <p:spPr>
          <a:xfrm>
            <a:off x="477893" y="147301"/>
            <a:ext cx="6538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게시판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실내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,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실외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154A7A-FF45-6D73-A4B4-1B7210EED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488" y="801044"/>
            <a:ext cx="2518689" cy="570941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38EEA9B-4254-702B-94D0-CF319DE71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663" y="801358"/>
            <a:ext cx="2617570" cy="5708157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44D7C44E-D6AF-7AEC-DEA1-305C35D2DAC9}"/>
              </a:ext>
            </a:extLst>
          </p:cNvPr>
          <p:cNvSpPr/>
          <p:nvPr/>
        </p:nvSpPr>
        <p:spPr>
          <a:xfrm>
            <a:off x="4356861" y="3066021"/>
            <a:ext cx="556591" cy="4850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4612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D59BD7B-47AF-40CB-202A-D46B4B3D5922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39B978-E40A-4CEE-BFA0-3F992B2CD688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F66227-50A3-B51D-1A11-02958CA8CC09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50764-299F-71C7-D519-3E2B0444F568}"/>
              </a:ext>
            </a:extLst>
          </p:cNvPr>
          <p:cNvSpPr txBox="1"/>
          <p:nvPr/>
        </p:nvSpPr>
        <p:spPr>
          <a:xfrm>
            <a:off x="477893" y="147301"/>
            <a:ext cx="7294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게시판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게시글 작성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7670C2-1061-A362-C380-91A6F4797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824" y="801358"/>
            <a:ext cx="2780776" cy="569940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68781E0-2B09-F56F-DFFB-2F56AB916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564" y="801358"/>
            <a:ext cx="2780776" cy="564802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52CB801-F30C-5ABF-6EE0-F1183F8EC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469" y="810743"/>
            <a:ext cx="2929020" cy="569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101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D59BD7B-47AF-40CB-202A-D46B4B3D5922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39B978-E40A-4CEE-BFA0-3F992B2CD688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F66227-50A3-B51D-1A11-02958CA8CC09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50764-299F-71C7-D519-3E2B0444F568}"/>
              </a:ext>
            </a:extLst>
          </p:cNvPr>
          <p:cNvSpPr txBox="1"/>
          <p:nvPr/>
        </p:nvSpPr>
        <p:spPr>
          <a:xfrm>
            <a:off x="477893" y="147301"/>
            <a:ext cx="9439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게시판 화면 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– 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디테일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: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댓글작성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90B4ED-4DDF-0332-3A99-2DA9EA79D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485" y="796348"/>
            <a:ext cx="2860800" cy="57081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0AABF8-97B6-BEC4-90C3-0AC883680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669" y="807628"/>
            <a:ext cx="2773213" cy="570815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DB79A0A-8B6F-6A09-EED1-973D8847C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252" y="779128"/>
            <a:ext cx="2773213" cy="570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30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D59BD7B-47AF-40CB-202A-D46B4B3D5922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39B978-E40A-4CEE-BFA0-3F992B2CD688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F66227-50A3-B51D-1A11-02958CA8CC09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50764-299F-71C7-D519-3E2B0444F568}"/>
              </a:ext>
            </a:extLst>
          </p:cNvPr>
          <p:cNvSpPr txBox="1"/>
          <p:nvPr/>
        </p:nvSpPr>
        <p:spPr>
          <a:xfrm>
            <a:off x="477893" y="147301"/>
            <a:ext cx="9439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게시판 화면 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– 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디테일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: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댓글삭제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B9E39E-9CBD-36B1-9011-72D783205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78" y="801988"/>
            <a:ext cx="2840250" cy="570815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B8C482D-6177-3C8B-BA19-9B3E710B8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030" y="801987"/>
            <a:ext cx="2760437" cy="56624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DA8D15C-8136-E5B9-380B-8E9C23446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878" y="801987"/>
            <a:ext cx="2685562" cy="566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95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D59BD7B-47AF-40CB-202A-D46B4B3D5922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39B978-E40A-4CEE-BFA0-3F992B2CD688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F66227-50A3-B51D-1A11-02958CA8CC09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50764-299F-71C7-D519-3E2B0444F568}"/>
              </a:ext>
            </a:extLst>
          </p:cNvPr>
          <p:cNvSpPr txBox="1"/>
          <p:nvPr/>
        </p:nvSpPr>
        <p:spPr>
          <a:xfrm>
            <a:off x="477893" y="147301"/>
            <a:ext cx="9439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게시판 화면 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– 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디테일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:</a:t>
            </a:r>
            <a:r>
              <a:rPr lang="ko-KR" altLang="en-US" sz="2400" b="1" spc="600" dirty="0" err="1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찜하기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7E63B8-90E5-4326-48DD-3D7341B3F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809" y="801988"/>
            <a:ext cx="2744646" cy="56602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3970AD5-07E6-8C77-EA25-3153831A5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235" y="801988"/>
            <a:ext cx="2773213" cy="570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56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D59BD7B-47AF-40CB-202A-D46B4B3D5922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39B978-E40A-4CEE-BFA0-3F992B2CD688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F66227-50A3-B51D-1A11-02958CA8CC09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50764-299F-71C7-D519-3E2B0444F568}"/>
              </a:ext>
            </a:extLst>
          </p:cNvPr>
          <p:cNvSpPr txBox="1"/>
          <p:nvPr/>
        </p:nvSpPr>
        <p:spPr>
          <a:xfrm>
            <a:off x="477893" y="147301"/>
            <a:ext cx="9439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마이페이지 화면 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– 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프로필 수정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4C88DA-E334-C83A-4FAE-788A925F5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75" y="779753"/>
            <a:ext cx="2709603" cy="571896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F283113-E64C-D638-4BA3-E76D7038E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091" y="799348"/>
            <a:ext cx="2709603" cy="56993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8E50A75-8F70-BAF2-5A19-8AC9EF31C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535" y="799348"/>
            <a:ext cx="2798604" cy="569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73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1E1CB02-070D-414A-D7DE-71E6C3651091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5F650E-E838-F2EE-A7C0-701F48942C65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C01A66-7B6F-6A39-B153-37D2487B20F3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95BA5-8E58-D84C-4E68-4E691D7D14CB}"/>
              </a:ext>
            </a:extLst>
          </p:cNvPr>
          <p:cNvSpPr txBox="1"/>
          <p:nvPr/>
        </p:nvSpPr>
        <p:spPr>
          <a:xfrm>
            <a:off x="477893" y="147301"/>
            <a:ext cx="6360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오픈채팅방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84FA3DF-9056-5DC7-9AC1-C9FB17A1C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40" y="849346"/>
            <a:ext cx="2683585" cy="564068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9A4F6A6-C982-FCEC-436B-B1C20BD8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178" y="801988"/>
            <a:ext cx="2739413" cy="564618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E70FE35-9C32-9200-5BDD-C61A281B5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5474" y="822100"/>
            <a:ext cx="2739413" cy="562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21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58A8F04-FECC-D9A5-B9E6-CF98AF03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204" y="779128"/>
            <a:ext cx="2657195" cy="556988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5FCBE7A-0E18-B131-1C98-2754FCF074D7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B75E68-C614-2443-553A-05D0245EB667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9E557A-65F7-0164-205D-5C35EDA8C994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E06A6-C4E8-CB79-E704-726B0B6D7050}"/>
              </a:ext>
            </a:extLst>
          </p:cNvPr>
          <p:cNvSpPr txBox="1"/>
          <p:nvPr/>
        </p:nvSpPr>
        <p:spPr>
          <a:xfrm>
            <a:off x="477893" y="147301"/>
            <a:ext cx="6360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메뉴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공지사항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1FDDC6-0659-F182-5B59-2BDAE9E79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122" y="801988"/>
            <a:ext cx="2774604" cy="570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22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58A8F04-FECC-D9A5-B9E6-CF98AF03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89" y="801988"/>
            <a:ext cx="2657195" cy="570815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5FCBE7A-0E18-B131-1C98-2754FCF074D7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B75E68-C614-2443-553A-05D0245EB667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9E557A-65F7-0164-205D-5C35EDA8C994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E06A6-C4E8-CB79-E704-726B0B6D7050}"/>
              </a:ext>
            </a:extLst>
          </p:cNvPr>
          <p:cNvSpPr txBox="1"/>
          <p:nvPr/>
        </p:nvSpPr>
        <p:spPr>
          <a:xfrm>
            <a:off x="477893" y="147301"/>
            <a:ext cx="7634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메뉴 화면 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– 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문의하기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: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사용자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E490A8-A7F5-3D2E-9588-7F5BDCD0F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673" y="801988"/>
            <a:ext cx="2754223" cy="568354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797CF6C-3B8D-2CCB-3C4E-A46F346AB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685" y="801988"/>
            <a:ext cx="2862842" cy="570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44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C241C0-FC90-3BD4-0EB1-40AC1FA7647B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BE7375-ADDC-223E-FDCD-10E0715502A0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3BC752-2A84-C010-9065-650575892F5D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84AE5-BEFD-ED68-982E-D88D520AE24C}"/>
              </a:ext>
            </a:extLst>
          </p:cNvPr>
          <p:cNvSpPr txBox="1"/>
          <p:nvPr/>
        </p:nvSpPr>
        <p:spPr>
          <a:xfrm>
            <a:off x="477893" y="147301"/>
            <a:ext cx="6360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관리자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공지사항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3B0F971-6B28-4579-C3B2-167519697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396" y="801988"/>
            <a:ext cx="2714647" cy="56685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C24D8CA-98F3-288F-4090-E00FAD956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436" y="771286"/>
            <a:ext cx="2772294" cy="5738859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C5A1321F-F8CE-AA46-6C6E-F6AB792C9E48}"/>
              </a:ext>
            </a:extLst>
          </p:cNvPr>
          <p:cNvSpPr/>
          <p:nvPr/>
        </p:nvSpPr>
        <p:spPr>
          <a:xfrm>
            <a:off x="6959384" y="5961621"/>
            <a:ext cx="556591" cy="4850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3571443-4711-A65F-1968-0F9E700C7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76" y="801987"/>
            <a:ext cx="2772294" cy="562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66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FBD2E05-7951-35E9-008D-D4897CEFD90B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170AAE-DBC3-91D0-1A80-76BB98DFEC7E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8092B1-FF8A-3009-DDD7-513F2D3DE8D5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15DE35-11F9-C760-0BEA-BD9E062BE3FB}"/>
              </a:ext>
            </a:extLst>
          </p:cNvPr>
          <p:cNvSpPr txBox="1"/>
          <p:nvPr/>
        </p:nvSpPr>
        <p:spPr>
          <a:xfrm>
            <a:off x="477893" y="147301"/>
            <a:ext cx="6972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관리자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홈 업데이트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0D2BCB3-EB16-BB18-0E38-F1B2DE427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51" y="801988"/>
            <a:ext cx="2759226" cy="57020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EF86F5B-BE92-1F55-9552-20578B0C3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402" y="778505"/>
            <a:ext cx="2759730" cy="570205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386C9DA-F831-EEAE-553B-492718C33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711" y="778814"/>
            <a:ext cx="2759226" cy="5728278"/>
          </a:xfrm>
          <a:prstGeom prst="rect">
            <a:avLst/>
          </a:prstGeom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37F31F80-508F-594F-A359-26229ABF924B}"/>
              </a:ext>
            </a:extLst>
          </p:cNvPr>
          <p:cNvSpPr/>
          <p:nvPr/>
        </p:nvSpPr>
        <p:spPr>
          <a:xfrm>
            <a:off x="6450501" y="5767805"/>
            <a:ext cx="556591" cy="4850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7584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2930A6E-5C28-2EDB-6030-43E8E27B76AB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4781E7-3D75-42FE-1FAB-1F5FC9B8E817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A60460-D83A-997C-FF36-9F9C367FA895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E6853-1F26-402D-A7D0-C4D25D74389B}"/>
              </a:ext>
            </a:extLst>
          </p:cNvPr>
          <p:cNvSpPr txBox="1"/>
          <p:nvPr/>
        </p:nvSpPr>
        <p:spPr>
          <a:xfrm>
            <a:off x="477893" y="147301"/>
            <a:ext cx="6972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관리자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홈 수정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2E9F59-9EA6-698F-1DBE-F19F20A16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73" y="843224"/>
            <a:ext cx="2705395" cy="55231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F03F4D2-B38A-CE12-F445-CC9F9FC2C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467" y="843224"/>
            <a:ext cx="2705395" cy="5576606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1343D6F9-FD9E-D555-787F-EC945EA59139}"/>
              </a:ext>
            </a:extLst>
          </p:cNvPr>
          <p:cNvSpPr/>
          <p:nvPr/>
        </p:nvSpPr>
        <p:spPr>
          <a:xfrm>
            <a:off x="6696685" y="5070281"/>
            <a:ext cx="556591" cy="4850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815720C-D07B-5250-26A5-146C7A2AF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147" y="858996"/>
            <a:ext cx="2616007" cy="550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90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13889FC-71E9-52F6-ED9F-8F39A6ECB95A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9F0C8D-DA1C-A06B-F487-DB700A1EC7F0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0B11D6-3578-3747-280F-564DE1A43B9F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D8AB27-E9C7-1F36-0AA4-33E1090EA705}"/>
              </a:ext>
            </a:extLst>
          </p:cNvPr>
          <p:cNvSpPr txBox="1"/>
          <p:nvPr/>
        </p:nvSpPr>
        <p:spPr>
          <a:xfrm>
            <a:off x="477893" y="147301"/>
            <a:ext cx="6972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관리자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홈 삭제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F7C760-5EF5-C1C7-F539-DA70025B9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452" y="801988"/>
            <a:ext cx="2705395" cy="5576606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8C2767A7-980A-0990-5093-E621F023C425}"/>
              </a:ext>
            </a:extLst>
          </p:cNvPr>
          <p:cNvSpPr/>
          <p:nvPr/>
        </p:nvSpPr>
        <p:spPr>
          <a:xfrm>
            <a:off x="4265257" y="5451230"/>
            <a:ext cx="459144" cy="4499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C59D827-AEDF-8A93-E048-E627C4DF0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296" y="801988"/>
            <a:ext cx="2705395" cy="560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97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9DC9883-A709-E278-47A2-C80F20E65FC0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A5D5CF-554A-5062-BF87-96A3FF590272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BD578B-51B8-7721-ECAD-2756D4E75660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8E6004-48C3-6A2E-88EE-006E098247FB}"/>
              </a:ext>
            </a:extLst>
          </p:cNvPr>
          <p:cNvSpPr txBox="1"/>
          <p:nvPr/>
        </p:nvSpPr>
        <p:spPr>
          <a:xfrm>
            <a:off x="477893" y="147301"/>
            <a:ext cx="6972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시스템 주요 기능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관리자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문의하기 화면</a:t>
            </a:r>
            <a:r>
              <a:rPr lang="en-US" altLang="ko-KR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)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2A6484-1AD6-C048-A6E0-8D5CE5D99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876" y="801988"/>
            <a:ext cx="2754023" cy="57081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CDD0488-C624-746B-1ECD-2A7E37A9C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889" y="801988"/>
            <a:ext cx="2754023" cy="57081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BB3EAC3-748F-F114-90EA-DDB254DEB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35" y="790851"/>
            <a:ext cx="2714647" cy="571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19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14D8E28-24B3-A01E-D1F3-6764812F9C51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F80A07-A4D1-508B-5CFF-7B8B0713BABA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A27450-0B8F-CD20-C16A-30AC71A69257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9144B-FCB2-312E-B8ED-7CA14350D834}"/>
              </a:ext>
            </a:extLst>
          </p:cNvPr>
          <p:cNvSpPr txBox="1"/>
          <p:nvPr/>
        </p:nvSpPr>
        <p:spPr>
          <a:xfrm>
            <a:off x="477893" y="147301"/>
            <a:ext cx="26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시연</a:t>
            </a:r>
          </a:p>
        </p:txBody>
      </p:sp>
    </p:spTree>
    <p:extLst>
      <p:ext uri="{BB962C8B-B14F-4D97-AF65-F5344CB8AC3E}">
        <p14:creationId xmlns:p14="http://schemas.microsoft.com/office/powerpoint/2010/main" val="2880713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AF7A28-301E-D0D9-37D4-B151C317733D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C1E2F1-E691-C6AA-B60D-114CB6082C5E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617398F-651B-61A7-E91D-86AB3D6DFC92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1688A53-0644-BE7F-E853-8BFCB0D1E4EF}"/>
              </a:ext>
            </a:extLst>
          </p:cNvPr>
          <p:cNvSpPr/>
          <p:nvPr/>
        </p:nvSpPr>
        <p:spPr>
          <a:xfrm>
            <a:off x="2078921" y="1921830"/>
            <a:ext cx="8055928" cy="3288679"/>
          </a:xfrm>
          <a:prstGeom prst="roundRect">
            <a:avLst/>
          </a:prstGeom>
          <a:solidFill>
            <a:srgbClr val="E2E2E2"/>
          </a:solidFill>
          <a:ln>
            <a:solidFill>
              <a:srgbClr val="69DE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게시글 조회수 및 댓글 수에 따른 인기 게시글 분류 기능 추가</a:t>
            </a:r>
          </a:p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endParaRPr lang="ko-KR" altLang="en-US" sz="1800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게시글 상세 기능</a:t>
            </a:r>
            <a:r>
              <a:rPr lang="en-US" altLang="ko-KR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댓글 등</a:t>
            </a:r>
            <a:r>
              <a:rPr lang="en-US" altLang="ko-KR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보완</a:t>
            </a:r>
          </a:p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endParaRPr lang="ko-KR" altLang="en-US" sz="1800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전체적인 </a:t>
            </a:r>
            <a:r>
              <a:rPr lang="en-US" altLang="ko-KR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UI </a:t>
            </a: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개선</a:t>
            </a:r>
            <a:endParaRPr lang="en-US" altLang="ko-KR" sz="1800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endParaRPr lang="en-US" altLang="ko-KR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5750" lvl="1" indent="-285750" defTabSz="1466850" latinLnBrk="1">
              <a:spcAft>
                <a:spcPct val="15000"/>
              </a:spcAft>
              <a:buFontTx/>
              <a:buChar char="-"/>
            </a:pP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관리자 문의하기 사용자별로 </a:t>
            </a:r>
            <a:r>
              <a:rPr lang="ko-KR" altLang="en-US" sz="1800" spc="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채팅방</a:t>
            </a:r>
            <a:r>
              <a:rPr lang="ko-KR" altLang="en-US" sz="18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목록 분류 작업 필요 </a:t>
            </a:r>
            <a:endParaRPr lang="en-US" altLang="ko-KR" sz="1800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56DBFE-0B15-6414-7562-C42F025DE7A2}"/>
              </a:ext>
            </a:extLst>
          </p:cNvPr>
          <p:cNvSpPr txBox="1"/>
          <p:nvPr/>
        </p:nvSpPr>
        <p:spPr>
          <a:xfrm>
            <a:off x="477893" y="147301"/>
            <a:ext cx="26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보완 사항</a:t>
            </a:r>
          </a:p>
        </p:txBody>
      </p:sp>
    </p:spTree>
    <p:extLst>
      <p:ext uri="{BB962C8B-B14F-4D97-AF65-F5344CB8AC3E}">
        <p14:creationId xmlns:p14="http://schemas.microsoft.com/office/powerpoint/2010/main" val="2817706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A08A06-07A7-4CA4-5EAB-8076B6FB1C1B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AABFB1-1698-CA8E-4D18-AF075E20D8D0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B46A83-2304-3E0E-CF7F-78B444DAA04C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0A832A6-779B-2461-997F-FD16E23452F3}"/>
              </a:ext>
            </a:extLst>
          </p:cNvPr>
          <p:cNvSpPr/>
          <p:nvPr/>
        </p:nvSpPr>
        <p:spPr>
          <a:xfrm>
            <a:off x="2783024" y="1155853"/>
            <a:ext cx="8372656" cy="1392296"/>
          </a:xfrm>
          <a:prstGeom prst="roundRect">
            <a:avLst/>
          </a:prstGeom>
          <a:solidFill>
            <a:srgbClr val="E2E2E2"/>
          </a:solidFill>
          <a:ln>
            <a:solidFill>
              <a:srgbClr val="69DE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defTabSz="1466850" latinLnBrk="1">
              <a:spcAft>
                <a:spcPct val="15000"/>
              </a:spcAft>
            </a:pPr>
            <a:r>
              <a:rPr lang="en-US" altLang="ko-KR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Dart</a:t>
            </a:r>
            <a:r>
              <a:rPr lang="ko-KR" altLang="en-US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언어를 이용한 </a:t>
            </a:r>
            <a:r>
              <a:rPr lang="ko-KR" altLang="en-US" dirty="0" err="1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플러터를</a:t>
            </a:r>
            <a:r>
              <a:rPr lang="ko-KR" altLang="en-US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이용하다가 언어를 자바로 바꾸게 되어 작업을 마무리 하지 못한 부분이 있어서 아쉬웠지만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프로젝트를 진행하면서 개발과정의 흐름을 이해할 수 있었고 팀원들 간의 유대감을 형성할 수 있었습니다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또한 따로 작업한 </a:t>
            </a:r>
            <a:r>
              <a:rPr lang="ko-KR" altLang="en-US" dirty="0" err="1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플러</a:t>
            </a:r>
            <a:r>
              <a:rPr lang="ko-KR" altLang="en-US" b="0" i="0" dirty="0" err="1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터는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 팀원들과 같이 방학에 완성할 것입니다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en-US" altLang="ko-KR" sz="1800" spc="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8F172-70FF-BD6B-9382-82C4763FB01C}"/>
              </a:ext>
            </a:extLst>
          </p:cNvPr>
          <p:cNvSpPr txBox="1"/>
          <p:nvPr/>
        </p:nvSpPr>
        <p:spPr>
          <a:xfrm>
            <a:off x="815704" y="1621168"/>
            <a:ext cx="1747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진민석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E686736-4548-05E1-6D82-724F6AFAB4F2}"/>
              </a:ext>
            </a:extLst>
          </p:cNvPr>
          <p:cNvSpPr/>
          <p:nvPr/>
        </p:nvSpPr>
        <p:spPr>
          <a:xfrm>
            <a:off x="2783024" y="3009777"/>
            <a:ext cx="8372656" cy="1392296"/>
          </a:xfrm>
          <a:prstGeom prst="roundRect">
            <a:avLst/>
          </a:prstGeom>
          <a:solidFill>
            <a:srgbClr val="E2E2E2"/>
          </a:solidFill>
          <a:ln>
            <a:solidFill>
              <a:srgbClr val="69DE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defTabSz="1466850" latinLnBrk="1">
              <a:spcAft>
                <a:spcPct val="15000"/>
              </a:spcAft>
            </a:pPr>
            <a:r>
              <a:rPr lang="ko-KR" altLang="en-US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졸업작품을 하면서 현업에 필요한 의사소통 능력과 </a:t>
            </a:r>
            <a:r>
              <a:rPr lang="ko-KR" altLang="en-US" b="0" i="0" dirty="0" err="1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백엔드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 직무 능력의 중요성을 알게 되었습니다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또한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0" i="0" dirty="0" err="1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팀원들과의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 팀워크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역할 분담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의사소통을 통해 프로젝트를 원활하게 진행하기 위한 노력을 하였고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아직 부족한 코딩 실력과 문제해결 능력에 있어서 도움이 됐던 값진 프로젝트였습니다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en-US" altLang="ko-KR" sz="1800" spc="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594198-C616-F361-A408-8E8774E1F89D}"/>
              </a:ext>
            </a:extLst>
          </p:cNvPr>
          <p:cNvSpPr txBox="1"/>
          <p:nvPr/>
        </p:nvSpPr>
        <p:spPr>
          <a:xfrm>
            <a:off x="815704" y="3475092"/>
            <a:ext cx="1747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김성민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1230E16-E379-A4A6-2F04-3E8009E40B00}"/>
              </a:ext>
            </a:extLst>
          </p:cNvPr>
          <p:cNvSpPr/>
          <p:nvPr/>
        </p:nvSpPr>
        <p:spPr>
          <a:xfrm>
            <a:off x="2783024" y="4895494"/>
            <a:ext cx="8372656" cy="1392296"/>
          </a:xfrm>
          <a:prstGeom prst="roundRect">
            <a:avLst/>
          </a:prstGeom>
          <a:solidFill>
            <a:srgbClr val="E2E2E2"/>
          </a:solidFill>
          <a:ln>
            <a:solidFill>
              <a:srgbClr val="69DE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defTabSz="1466850" latinLnBrk="1">
              <a:spcAft>
                <a:spcPct val="15000"/>
              </a:spcAft>
            </a:pPr>
            <a:r>
              <a:rPr lang="ko-KR" altLang="en-US" sz="1800" spc="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이번 프로젝트를 진행하면서 앱 개발과 </a:t>
            </a:r>
            <a:r>
              <a:rPr lang="ko-KR" altLang="en-US" sz="1800" spc="2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파이어베이스에</a:t>
            </a:r>
            <a:r>
              <a:rPr lang="ko-KR" altLang="en-US" sz="1800" spc="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대한 이해가 높아졌습니다</a:t>
            </a:r>
            <a:r>
              <a:rPr lang="en-US" altLang="ko-KR" sz="1800" spc="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800" spc="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앱 개발은 처음이라서 여러 고충들을 겪었지만 팀원과의 협동으로 잘 </a:t>
            </a:r>
            <a:r>
              <a:rPr lang="ko-KR" altLang="en-US" sz="1800" spc="20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극복할수</a:t>
            </a:r>
            <a:r>
              <a:rPr lang="ko-KR" altLang="en-US" sz="1800" spc="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있어서 </a:t>
            </a:r>
            <a:r>
              <a:rPr lang="ko-KR" altLang="en-US" spc="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값진 </a:t>
            </a:r>
            <a:r>
              <a:rPr lang="ko-KR" altLang="en-US" sz="1800" spc="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경험이 되었습니다</a:t>
            </a:r>
            <a:r>
              <a:rPr lang="en-US" altLang="ko-KR" sz="1800" spc="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0" lvl="1" defTabSz="1466850" latinLnBrk="1">
              <a:spcAft>
                <a:spcPct val="15000"/>
              </a:spcAft>
            </a:pPr>
            <a:endParaRPr lang="en-US" altLang="ko-KR" sz="1800" spc="2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770D20-DAF5-BB67-A064-37545FF23CD4}"/>
              </a:ext>
            </a:extLst>
          </p:cNvPr>
          <p:cNvSpPr txBox="1"/>
          <p:nvPr/>
        </p:nvSpPr>
        <p:spPr>
          <a:xfrm>
            <a:off x="815704" y="5360809"/>
            <a:ext cx="1747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 err="1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최남규</a:t>
            </a:r>
            <a:endParaRPr lang="ko-KR" altLang="en-US" sz="2400" b="1" spc="600" dirty="0">
              <a:solidFill>
                <a:srgbClr val="69DEAD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KoPubWorld돋움체 Light" panose="000003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941FD1-76AC-D6A8-831B-DE7B72C31ADF}"/>
              </a:ext>
            </a:extLst>
          </p:cNvPr>
          <p:cNvSpPr txBox="1"/>
          <p:nvPr/>
        </p:nvSpPr>
        <p:spPr>
          <a:xfrm>
            <a:off x="477893" y="147301"/>
            <a:ext cx="265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600" dirty="0">
                <a:solidFill>
                  <a:srgbClr val="69DEAD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KoPubWorld돋움체 Light" panose="00000300000000000000" pitchFamily="2" charset="-127"/>
              </a:rPr>
              <a:t>개발 후기</a:t>
            </a:r>
          </a:p>
        </p:txBody>
      </p:sp>
    </p:spTree>
    <p:extLst>
      <p:ext uri="{BB962C8B-B14F-4D97-AF65-F5344CB8AC3E}">
        <p14:creationId xmlns:p14="http://schemas.microsoft.com/office/powerpoint/2010/main" val="721217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84F941-B1A5-42ED-AD78-B0F57A275C9B}"/>
              </a:ext>
            </a:extLst>
          </p:cNvPr>
          <p:cNvSpPr txBox="1"/>
          <p:nvPr/>
        </p:nvSpPr>
        <p:spPr>
          <a:xfrm>
            <a:off x="4612260" y="3044279"/>
            <a:ext cx="29674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4400" dirty="0">
                <a:solidFill>
                  <a:srgbClr val="4ABD8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감사합니다</a:t>
            </a:r>
            <a:r>
              <a:rPr lang="en-US" altLang="ko-KR" sz="4400" dirty="0">
                <a:solidFill>
                  <a:srgbClr val="4ABD8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en-US" sz="4400" dirty="0">
              <a:solidFill>
                <a:srgbClr val="4ABD8D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74C3B1-B37F-4CF9-E136-90DBB4B8548F}"/>
              </a:ext>
            </a:extLst>
          </p:cNvPr>
          <p:cNvSpPr/>
          <p:nvPr/>
        </p:nvSpPr>
        <p:spPr>
          <a:xfrm>
            <a:off x="-5868" y="6510145"/>
            <a:ext cx="12213770" cy="369901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4C7823-E4D6-4080-6768-BAA7479AC303}"/>
              </a:ext>
            </a:extLst>
          </p:cNvPr>
          <p:cNvSpPr/>
          <p:nvPr/>
        </p:nvSpPr>
        <p:spPr>
          <a:xfrm rot="5400000">
            <a:off x="-3268065" y="3263934"/>
            <a:ext cx="6858003" cy="330132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CB21E9-D581-D596-231B-68B81294EE1D}"/>
              </a:ext>
            </a:extLst>
          </p:cNvPr>
          <p:cNvSpPr/>
          <p:nvPr/>
        </p:nvSpPr>
        <p:spPr>
          <a:xfrm flipV="1">
            <a:off x="0" y="756269"/>
            <a:ext cx="12213770" cy="45719"/>
          </a:xfrm>
          <a:prstGeom prst="rect">
            <a:avLst/>
          </a:prstGeom>
          <a:solidFill>
            <a:srgbClr val="69DE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40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489</Words>
  <Application>Microsoft Office PowerPoint</Application>
  <PresentationFormat>와이드스크린</PresentationFormat>
  <Paragraphs>115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8" baseType="lpstr">
      <vt:lpstr>맑은 고딕</vt:lpstr>
      <vt:lpstr>LG Smart UI Bold</vt:lpstr>
      <vt:lpstr>LG Smart UI Bold.</vt:lpstr>
      <vt:lpstr>KoPubWorld돋움체 Bold</vt:lpstr>
      <vt:lpstr>Arial</vt:lpstr>
      <vt:lpstr>Arial Rounded MT Bold</vt:lpstr>
      <vt:lpstr>맑은 고딕</vt:lpstr>
      <vt:lpstr>LG PC</vt:lpstr>
      <vt:lpstr>KoPubWorld돋움체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서 유진</dc:creator>
  <cp:lastModifiedBy>김성민</cp:lastModifiedBy>
  <cp:revision>83</cp:revision>
  <dcterms:created xsi:type="dcterms:W3CDTF">2020-01-03T14:16:53Z</dcterms:created>
  <dcterms:modified xsi:type="dcterms:W3CDTF">2023-06-25T06:27:12Z</dcterms:modified>
</cp:coreProperties>
</file>